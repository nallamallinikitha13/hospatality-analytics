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7" r:id="rId10"/>
    <p:sldId id="268" r:id="rId11"/>
    <p:sldId id="266" r:id="rId12"/>
    <p:sldId id="261" r:id="rId13"/>
    <p:sldId id="26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418EAC7-DFF2-48BE-9E04-BB687D49DD98}">
          <p14:sldIdLst>
            <p14:sldId id="256"/>
            <p14:sldId id="257"/>
          </p14:sldIdLst>
        </p14:section>
        <p14:section name="Untitled Section" id="{C80CFEA4-E0FF-4672-B563-4E1638A86ABF}">
          <p14:sldIdLst>
            <p14:sldId id="258"/>
            <p14:sldId id="259"/>
            <p14:sldId id="260"/>
            <p14:sldId id="263"/>
            <p14:sldId id="264"/>
            <p14:sldId id="265"/>
            <p14:sldId id="267"/>
            <p14:sldId id="268"/>
            <p14:sldId id="266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0" y="8751"/>
            <a:ext cx="1143000" cy="1143000"/>
          </a:xfrm>
          <a:prstGeom prst="ellipse">
            <a:avLst/>
          </a:prstGeom>
          <a:solidFill>
            <a:srgbClr val="EB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87563" y="763524"/>
            <a:ext cx="502920" cy="502920"/>
          </a:xfrm>
          <a:prstGeom prst="ellipse">
            <a:avLst/>
          </a:prstGeom>
          <a:solidFill>
            <a:srgbClr val="D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793171" y="5340096"/>
            <a:ext cx="1371600" cy="1371600"/>
          </a:xfrm>
          <a:prstGeom prst="ellipse">
            <a:avLst/>
          </a:prstGeom>
          <a:solidFill>
            <a:srgbClr val="E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685800"/>
            <a:ext cx="1554480" cy="310896"/>
          </a:xfrm>
          <a:prstGeom prst="round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5544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rPr dirty="0"/>
              <a:t>PROJECT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2A43"/>
                </a:solidFill>
                <a:latin typeface="Aptos Display"/>
              </a:defRPr>
            </a:pPr>
            <a:r>
              <a:rPr sz="2900" b="1"/>
              <a:t>HOSPITALITY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84831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1C9AB7"/>
                </a:solidFill>
                <a:latin typeface="Aptos Display"/>
              </a:defRPr>
            </a:pPr>
            <a:r>
              <a:rPr sz="1900" b="1"/>
              <a:t>Hotel Booking &amp; Revenue Analytics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95349"/>
            <a:ext cx="7772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Aptos"/>
              </a:rPr>
              <a:t>End-to-End Data Analytics using
Excel • SQL • Power BI • Tableau</a:t>
            </a:r>
            <a:endParaRPr lang="en-US" sz="2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685800" y="370332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68B9A"/>
                </a:solidFill>
                <a:latin typeface="Aptos"/>
              </a:defRPr>
            </a:pPr>
            <a:r>
              <a:rPr sz="1300"/>
              <a:t>Data Preparation • SQL • KPIs • Dashboards • Business Insights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572000"/>
            <a:ext cx="1417320" cy="310896"/>
          </a:xfrm>
          <a:prstGeom prst="roundRect">
            <a:avLst/>
          </a:prstGeom>
          <a:solidFill>
            <a:srgbClr val="1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4590288"/>
            <a:ext cx="1417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MICROSOFT EXCEL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0280" y="4572000"/>
            <a:ext cx="1234440" cy="310896"/>
          </a:xfrm>
          <a:prstGeom prst="round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40280" y="4590288"/>
            <a:ext cx="1234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1" y="5029200"/>
            <a:ext cx="1234440" cy="3108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98829" y="5047488"/>
            <a:ext cx="421911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rPr sz="1050" b="1">
                <a:solidFill>
                  <a:srgbClr val="FFFFFF"/>
                </a:solidFill>
                <a:latin typeface="Aptos Display"/>
              </a:rPr>
              <a:t>SQL
</a:t>
            </a:r>
            <a:endParaRPr lang="en-US" sz="1050" dirty="0"/>
          </a:p>
        </p:txBody>
      </p:sp>
      <p:sp>
        <p:nvSpPr>
          <p:cNvPr id="21" name="Rectangle 20"/>
          <p:cNvSpPr/>
          <p:nvPr/>
        </p:nvSpPr>
        <p:spPr>
          <a:xfrm>
            <a:off x="0" y="6611112"/>
            <a:ext cx="12191999" cy="24688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6629400"/>
            <a:ext cx="306526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Aptos"/>
              </a:defRPr>
            </a:pPr>
            <a:r>
              <a:rPr sz="1000" dirty="0"/>
              <a:t>Hospitality Analytics | Project Presentation | Group </a:t>
            </a:r>
            <a:r>
              <a:rPr lang="en-US" sz="1000" dirty="0"/>
              <a:t>4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11155680" y="6620256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0" name="Rounded Rectangle 14">
            <a:extLst>
              <a:ext uri="{FF2B5EF4-FFF2-40B4-BE49-F238E27FC236}">
                <a16:creationId xmlns:a16="http://schemas.microsoft.com/office/drawing/2014/main" id="{04CFF7B0-6678-71E2-0755-5A292764AE08}"/>
              </a:ext>
            </a:extLst>
          </p:cNvPr>
          <p:cNvSpPr/>
          <p:nvPr/>
        </p:nvSpPr>
        <p:spPr>
          <a:xfrm>
            <a:off x="2658151" y="5029200"/>
            <a:ext cx="1234440" cy="310896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D31296-2019-80BE-EA7A-F93CF2E121A6}"/>
              </a:ext>
            </a:extLst>
          </p:cNvPr>
          <p:cNvSpPr txBox="1"/>
          <p:nvPr/>
        </p:nvSpPr>
        <p:spPr>
          <a:xfrm>
            <a:off x="2867216" y="5071964"/>
            <a:ext cx="724878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rPr sz="1050" b="1">
                <a:solidFill>
                  <a:srgbClr val="FFFFFF"/>
                </a:solidFill>
                <a:latin typeface="Aptos Display"/>
              </a:rPr>
              <a:t>TABLEAU
</a:t>
            </a:r>
            <a:endParaRPr lang="en-US" sz="10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2351C46-8FC9-8C6E-67D1-47E68E747695}"/>
              </a:ext>
            </a:extLst>
          </p:cNvPr>
          <p:cNvSpPr/>
          <p:nvPr/>
        </p:nvSpPr>
        <p:spPr>
          <a:xfrm>
            <a:off x="10646289" y="6279812"/>
            <a:ext cx="502920" cy="502920"/>
          </a:xfrm>
          <a:prstGeom prst="ellipse">
            <a:avLst/>
          </a:prstGeom>
          <a:solidFill>
            <a:srgbClr val="D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6">
            <a:extLst>
              <a:ext uri="{FF2B5EF4-FFF2-40B4-BE49-F238E27FC236}">
                <a16:creationId xmlns:a16="http://schemas.microsoft.com/office/drawing/2014/main" id="{02CC6EFE-365F-B6A2-19C7-1E075C560A7A}"/>
              </a:ext>
            </a:extLst>
          </p:cNvPr>
          <p:cNvSpPr/>
          <p:nvPr/>
        </p:nvSpPr>
        <p:spPr>
          <a:xfrm>
            <a:off x="9367590" y="6227064"/>
            <a:ext cx="1554480" cy="310896"/>
          </a:xfrm>
          <a:prstGeom prst="round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8081AC-AB10-6614-81EA-ABA8F04AF6BE}"/>
              </a:ext>
            </a:extLst>
          </p:cNvPr>
          <p:cNvSpPr txBox="1"/>
          <p:nvPr/>
        </p:nvSpPr>
        <p:spPr>
          <a:xfrm>
            <a:off x="9833543" y="6245450"/>
            <a:ext cx="739305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GROUP 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18872"/>
            <a:ext cx="79552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PROJECT TEAM 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64592"/>
            <a:ext cx="3611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4D8E3"/>
                </a:solidFill>
                <a:latin typeface="Aptos"/>
              </a:defRPr>
            </a:pPr>
            <a:r>
              <a:t>Edit names &amp; IDs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"/>
            <a:ext cx="12191999" cy="64008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6858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F2A43"/>
                </a:solidFill>
                <a:latin typeface="Aptos Display"/>
              </a:defRPr>
            </a:pPr>
            <a:r>
              <a:rPr dirty="0"/>
              <a:t>PROJECT TEAM</a:t>
            </a:r>
            <a:r>
              <a:rPr lang="en-IN" dirty="0"/>
              <a:t> MEMBERS </a:t>
            </a:r>
          </a:p>
          <a:p>
            <a:pPr algn="l">
              <a:defRPr sz="2300" b="1">
                <a:solidFill>
                  <a:srgbClr val="0F2A43"/>
                </a:solidFill>
                <a:latin typeface="Aptos Display"/>
              </a:defRPr>
            </a:pPr>
            <a:r>
              <a:rPr lang="en-IN" dirty="0"/>
              <a:t>GROUP - 2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502920" y="1920240"/>
            <a:ext cx="34290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19" y="1920240"/>
            <a:ext cx="122707" cy="841248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075688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2A43"/>
                </a:solidFill>
                <a:latin typeface="Aptos"/>
              </a:defRPr>
            </a:pPr>
            <a:r>
              <a:rPr lang="en-IN" sz="1600" dirty="0"/>
              <a:t>G NANDINI</a:t>
            </a:r>
            <a:endParaRPr sz="1600" dirty="0"/>
          </a:p>
        </p:txBody>
      </p:sp>
      <p:sp>
        <p:nvSpPr>
          <p:cNvPr id="14" name="Rounded Rectangle 13"/>
          <p:cNvSpPr/>
          <p:nvPr/>
        </p:nvSpPr>
        <p:spPr>
          <a:xfrm>
            <a:off x="4343400" y="1920240"/>
            <a:ext cx="34290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3400" y="1920240"/>
            <a:ext cx="109728" cy="8412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2075688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2A43"/>
                </a:solidFill>
                <a:latin typeface="Aptos"/>
              </a:defRPr>
            </a:pPr>
            <a:r>
              <a:rPr lang="en-IN" sz="1600" dirty="0"/>
              <a:t>Nikitha </a:t>
            </a:r>
            <a:r>
              <a:rPr lang="en-IN" sz="1600" dirty="0" err="1"/>
              <a:t>Nallamalli</a:t>
            </a:r>
            <a:endParaRPr sz="1600" dirty="0"/>
          </a:p>
        </p:txBody>
      </p:sp>
      <p:sp>
        <p:nvSpPr>
          <p:cNvPr id="19" name="Rounded Rectangle 18"/>
          <p:cNvSpPr/>
          <p:nvPr/>
        </p:nvSpPr>
        <p:spPr>
          <a:xfrm>
            <a:off x="8183880" y="1920240"/>
            <a:ext cx="34290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83880" y="1930072"/>
            <a:ext cx="109728" cy="841248"/>
          </a:xfrm>
          <a:prstGeom prst="rect">
            <a:avLst/>
          </a:prstGeom>
          <a:solidFill>
            <a:srgbClr val="1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8412480" y="2075688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2A43"/>
                </a:solidFill>
                <a:latin typeface="Aptos"/>
              </a:defRPr>
            </a:pPr>
            <a:r>
              <a:rPr lang="en-IN" sz="1600" dirty="0"/>
              <a:t>Prateek Gupta</a:t>
            </a:r>
            <a:endParaRPr sz="1600" dirty="0"/>
          </a:p>
        </p:txBody>
      </p:sp>
      <p:sp>
        <p:nvSpPr>
          <p:cNvPr id="24" name="Rounded Rectangle 23"/>
          <p:cNvSpPr/>
          <p:nvPr/>
        </p:nvSpPr>
        <p:spPr>
          <a:xfrm>
            <a:off x="502920" y="3429000"/>
            <a:ext cx="34290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3428999"/>
            <a:ext cx="109728" cy="859155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3584448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2A43"/>
                </a:solidFill>
                <a:latin typeface="Aptos"/>
              </a:defRPr>
            </a:pPr>
            <a:r>
              <a:rPr lang="en-IN" sz="1600" dirty="0" err="1"/>
              <a:t>Soubhagyalaxmi</a:t>
            </a:r>
            <a:r>
              <a:rPr lang="en-IN" sz="1600" dirty="0"/>
              <a:t> M </a:t>
            </a:r>
            <a:r>
              <a:rPr lang="en-IN" sz="1600" dirty="0" err="1"/>
              <a:t>Asangi</a:t>
            </a:r>
            <a:endParaRPr sz="1600" dirty="0"/>
          </a:p>
        </p:txBody>
      </p:sp>
      <p:sp>
        <p:nvSpPr>
          <p:cNvPr id="29" name="Rounded Rectangle 28"/>
          <p:cNvSpPr/>
          <p:nvPr/>
        </p:nvSpPr>
        <p:spPr>
          <a:xfrm>
            <a:off x="4343400" y="3429000"/>
            <a:ext cx="34290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43400" y="3429000"/>
            <a:ext cx="109728" cy="841248"/>
          </a:xfrm>
          <a:prstGeom prst="rect">
            <a:avLst/>
          </a:prstGeom>
          <a:solidFill>
            <a:srgbClr val="705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0" y="3584448"/>
            <a:ext cx="2987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2A43"/>
                </a:solidFill>
                <a:latin typeface="Aptos"/>
              </a:defRPr>
            </a:pPr>
            <a:r>
              <a:rPr lang="en-IN" sz="1600" dirty="0"/>
              <a:t>Ashutosh Biswal</a:t>
            </a:r>
            <a:endParaRPr sz="1600" dirty="0"/>
          </a:p>
        </p:txBody>
      </p:sp>
      <p:sp>
        <p:nvSpPr>
          <p:cNvPr id="34" name="Rounded Rectangle 33"/>
          <p:cNvSpPr/>
          <p:nvPr/>
        </p:nvSpPr>
        <p:spPr>
          <a:xfrm>
            <a:off x="8183880" y="3429000"/>
            <a:ext cx="3429000" cy="859154"/>
          </a:xfrm>
          <a:prstGeom prst="roundRect">
            <a:avLst/>
          </a:prstGeom>
          <a:solidFill>
            <a:srgbClr val="FFFFFF"/>
          </a:solidFill>
          <a:ln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183880" y="3429000"/>
            <a:ext cx="109728" cy="859154"/>
          </a:xfrm>
          <a:prstGeom prst="rect">
            <a:avLst/>
          </a:prstGeom>
          <a:solidFill>
            <a:srgbClr val="DC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12480" y="3584448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2A43"/>
                </a:solidFill>
                <a:latin typeface="Aptos"/>
              </a:defRPr>
            </a:pPr>
            <a:r>
              <a:rPr lang="en-IN" sz="1600" dirty="0" err="1"/>
              <a:t>Velunguri</a:t>
            </a:r>
            <a:r>
              <a:rPr lang="en-IN" sz="1600" dirty="0"/>
              <a:t> Venkata Mukesh</a:t>
            </a:r>
            <a:endParaRPr sz="1600" dirty="0"/>
          </a:p>
        </p:txBody>
      </p:sp>
      <p:sp>
        <p:nvSpPr>
          <p:cNvPr id="40" name="Rectangle 39"/>
          <p:cNvSpPr/>
          <p:nvPr/>
        </p:nvSpPr>
        <p:spPr>
          <a:xfrm>
            <a:off x="0" y="6611112"/>
            <a:ext cx="12191999" cy="24688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1480" y="6629400"/>
            <a:ext cx="2632452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Aptos"/>
              </a:defRPr>
            </a:pPr>
            <a:r>
              <a:rPr dirty="0"/>
              <a:t>Hospitality Analytics | Project Presentation | Group 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42" name="TextBox 41"/>
          <p:cNvSpPr txBox="1"/>
          <p:nvPr/>
        </p:nvSpPr>
        <p:spPr>
          <a:xfrm>
            <a:off x="11155680" y="6620256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4" name="Rounded Rectangle 28">
            <a:extLst>
              <a:ext uri="{FF2B5EF4-FFF2-40B4-BE49-F238E27FC236}">
                <a16:creationId xmlns:a16="http://schemas.microsoft.com/office/drawing/2014/main" id="{D17FA47B-BD87-0759-D825-8382B52D8790}"/>
              </a:ext>
            </a:extLst>
          </p:cNvPr>
          <p:cNvSpPr/>
          <p:nvPr/>
        </p:nvSpPr>
        <p:spPr>
          <a:xfrm>
            <a:off x="502920" y="4724399"/>
            <a:ext cx="3429000" cy="841247"/>
          </a:xfrm>
          <a:prstGeom prst="roundRect">
            <a:avLst/>
          </a:prstGeom>
          <a:solidFill>
            <a:srgbClr val="FFFFFF"/>
          </a:solidFill>
          <a:ln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1DD1ACB-7368-3471-B6F1-02FF5F2D9263}"/>
              </a:ext>
            </a:extLst>
          </p:cNvPr>
          <p:cNvSpPr/>
          <p:nvPr/>
        </p:nvSpPr>
        <p:spPr>
          <a:xfrm>
            <a:off x="505739" y="4742984"/>
            <a:ext cx="109728" cy="840950"/>
          </a:xfrm>
          <a:prstGeom prst="rect">
            <a:avLst/>
          </a:prstGeom>
          <a:solidFill>
            <a:srgbClr val="1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80188A5-7BF9-7F15-72E6-5FDAAB936E21}"/>
              </a:ext>
            </a:extLst>
          </p:cNvPr>
          <p:cNvSpPr/>
          <p:nvPr/>
        </p:nvSpPr>
        <p:spPr>
          <a:xfrm>
            <a:off x="8183880" y="1920240"/>
            <a:ext cx="109728" cy="869062"/>
          </a:xfrm>
          <a:prstGeom prst="rect">
            <a:avLst/>
          </a:prstGeom>
          <a:solidFill>
            <a:srgbClr val="1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A6C4709-80B3-B0B9-3FEE-88FB264A9D2B}"/>
              </a:ext>
            </a:extLst>
          </p:cNvPr>
          <p:cNvSpPr txBox="1"/>
          <p:nvPr/>
        </p:nvSpPr>
        <p:spPr>
          <a:xfrm>
            <a:off x="731520" y="4915169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2A43"/>
                </a:solidFill>
                <a:latin typeface="Aptos"/>
              </a:defRPr>
            </a:pPr>
            <a:r>
              <a:rPr lang="en-IN" sz="1600" dirty="0"/>
              <a:t>Bhati Dhruv</a:t>
            </a:r>
            <a:endParaRPr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18872"/>
            <a:ext cx="79552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64592"/>
            <a:ext cx="3611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4D8E3"/>
                </a:solidFill>
                <a:latin typeface="Aptos"/>
              </a:defRPr>
            </a:pPr>
            <a:r>
              <a:t>Excel + Power BI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"/>
            <a:ext cx="12191999" cy="64008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latin typeface="Aptos"/>
              </a:rPr>
              <a:t>Hospitality Analytics • Excel • SQL • Power BI • Tableau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110185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A3744"/>
                </a:solidFill>
                <a:latin typeface="Aptos"/>
              </a:defRPr>
            </a:pPr>
            <a:r>
              <a:rPr sz="1150">
                <a:latin typeface="Aptos"/>
              </a:rPr>
              <a:t>This project analyzes hotel bookings, realized revenue, room capacity, booking platforms, channels, room classes and hotel performance using Excel, SQL, Power BI and Tableau.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31720"/>
            <a:ext cx="2651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2331720"/>
            <a:ext cx="2651760" cy="54864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478024"/>
            <a:ext cx="2322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A43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843784"/>
            <a:ext cx="2322576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A3744"/>
                </a:solidFill>
                <a:latin typeface="Aptos"/>
              </a:defRPr>
            </a:pPr>
            <a:r>
              <a:t>Prepared booking-level and aggregated-booking data with hotel, room and date dimensions.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2331720"/>
            <a:ext cx="2651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55848" y="2331720"/>
            <a:ext cx="2651760" cy="54864"/>
          </a:xfrm>
          <a:prstGeom prst="rect">
            <a:avLst/>
          </a:prstGeom>
          <a:solidFill>
            <a:srgbClr val="1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0440" y="2478024"/>
            <a:ext cx="23225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latin typeface="Aptos"/>
              </a:rPr>
              <a:t>SQL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843784"/>
            <a:ext cx="2322576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latin typeface="Aptos"/>
              </a:rPr>
              <a:t>Created the hospitality analytics database and inspected fact and dimension tables.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2331720"/>
            <a:ext cx="2651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08776" y="2331720"/>
            <a:ext cx="26517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368" y="2478024"/>
            <a:ext cx="23225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latin typeface="Aptos"/>
              </a:rPr>
              <a:t>VISUALIZATION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843784"/>
            <a:ext cx="2322576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latin typeface="Aptos"/>
              </a:rPr>
              <a:t>Built KPI dashboards and interactive visuals for revenue, bookings, occupancy, status and channel analysis.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1704" y="2331720"/>
            <a:ext cx="2651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61704" y="2331720"/>
            <a:ext cx="2651760" cy="54864"/>
          </a:xfrm>
          <a:prstGeom prst="rect">
            <a:avLst/>
          </a:prstGeom>
          <a:solidFill>
            <a:srgbClr val="705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26296" y="2478024"/>
            <a:ext cx="23225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latin typeface="Aptos"/>
              </a:rPr>
              <a:t>POWER QUERY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6" y="2843784"/>
            <a:ext cx="2322576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latin typeface="Aptos"/>
              </a:rPr>
              <a:t>Workbook preparation, pivot analysis, calculated KPIs and dashboard formatting.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0965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A43"/>
                </a:solidFill>
                <a:latin typeface="Aptos"/>
              </a:defRPr>
            </a:pPr>
            <a:r>
              <a:t>PROJECT WORKFLOW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572000"/>
            <a:ext cx="1417320" cy="310896"/>
          </a:xfrm>
          <a:prstGeom prst="round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590288"/>
            <a:ext cx="1417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Booking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45994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68B9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31720" y="4572000"/>
            <a:ext cx="1417320" cy="310896"/>
          </a:xfrm>
          <a:prstGeom prst="round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331720" y="4590288"/>
            <a:ext cx="1417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76472" y="45994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68B9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60520" y="4572000"/>
            <a:ext cx="1417320" cy="310896"/>
          </a:xfrm>
          <a:prstGeom prst="roundRect">
            <a:avLst/>
          </a:prstGeom>
          <a:solidFill>
            <a:srgbClr val="1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60520" y="4590288"/>
            <a:ext cx="1417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KPI Calculations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05272" y="45994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68B9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89320" y="4572000"/>
            <a:ext cx="1417320" cy="3108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89320" y="4590288"/>
            <a:ext cx="1417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Data 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34072" y="45994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68B9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18120" y="4572000"/>
            <a:ext cx="1417320" cy="310896"/>
          </a:xfrm>
          <a:prstGeom prst="roundRect">
            <a:avLst/>
          </a:prstGeom>
          <a:solidFill>
            <a:srgbClr val="705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818120" y="4590288"/>
            <a:ext cx="1417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62872" y="45994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68B9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46920" y="4572000"/>
            <a:ext cx="1417320" cy="310896"/>
          </a:xfrm>
          <a:prstGeom prst="round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646920" y="4590288"/>
            <a:ext cx="1417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Insights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611112"/>
            <a:ext cx="12191999" cy="24688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5" name="TextBox 44"/>
          <p:cNvSpPr txBox="1"/>
          <p:nvPr/>
        </p:nvSpPr>
        <p:spPr>
          <a:xfrm>
            <a:off x="411480" y="6629400"/>
            <a:ext cx="2632452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Aptos"/>
              </a:defRPr>
            </a:pPr>
            <a:r>
              <a:rPr dirty="0"/>
              <a:t>Hospitality Analytics | Project Presentation | Group 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46" name="TextBox 45"/>
          <p:cNvSpPr txBox="1"/>
          <p:nvPr/>
        </p:nvSpPr>
        <p:spPr>
          <a:xfrm>
            <a:off x="11155680" y="6620256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5D564D1-7985-B834-2664-6287354B58E9}"/>
              </a:ext>
            </a:extLst>
          </p:cNvPr>
          <p:cNvSpPr txBox="1"/>
          <p:nvPr/>
        </p:nvSpPr>
        <p:spPr>
          <a:xfrm>
            <a:off x="636294" y="5406110"/>
            <a:ext cx="1025799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latin typeface="Aptos"/>
              </a:rPr>
              <a:t>DATA MODEL : Fact_Bookings + Fact_Aggregated_Bookings  →  DimHotels  |  DimRooms  |  DimDate</a:t>
            </a:r>
            <a:endParaRPr sz="1400" b="1" i="0" dirty="0"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18872"/>
            <a:ext cx="79552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EXCEL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64592"/>
            <a:ext cx="3611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4D8E3"/>
                </a:solidFill>
                <a:latin typeface="Aptos"/>
              </a:defRPr>
            </a:pPr>
            <a:r>
              <a:t>Microsoft Excel | Pivot Tables | Charts | Slicers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"/>
            <a:ext cx="12191999" cy="64008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7498079" cy="411480"/>
          </a:xfrm>
          <a:prstGeom prst="rect">
            <a:avLst/>
          </a:prstGeom>
          <a:solidFill>
            <a:srgbClr val="1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024128"/>
            <a:ext cx="7168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HOSPITALITY DASHBOARD SCREENSHOT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96012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960120"/>
            <a:ext cx="3429000" cy="54864"/>
          </a:xfrm>
          <a:prstGeom prst="rect">
            <a:avLst/>
          </a:prstGeom>
          <a:solidFill>
            <a:srgbClr val="1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94192" y="1106424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A43"/>
                </a:solidFill>
                <a:latin typeface="Aptos"/>
              </a:defRPr>
            </a:pPr>
            <a:r>
              <a:t>Pivot 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1472184"/>
            <a:ext cx="309981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A3744"/>
                </a:solidFill>
                <a:latin typeface="Aptos"/>
              </a:defRPr>
            </a:pPr>
            <a:r>
              <a:t>Hotel, city, room-class, platform and booking-status analysis.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05740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2057400"/>
            <a:ext cx="3429000" cy="54864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2203704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A43"/>
                </a:solidFill>
                <a:latin typeface="Aptos"/>
              </a:defRPr>
            </a:pPr>
            <a:r>
              <a:t>KPI Cards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569464"/>
            <a:ext cx="309981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A3744"/>
                </a:solidFill>
                <a:latin typeface="Aptos"/>
              </a:defRPr>
            </a:pPr>
            <a:r>
              <a:t>Revenue Realized, Total Bookings, Occupancy, Average Rating and booking KPIs.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15468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0" y="3154680"/>
            <a:ext cx="3429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94192" y="3300984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A43"/>
                </a:solidFill>
                <a:latin typeface="Aptos"/>
              </a:defRPr>
            </a:pPr>
            <a:r>
              <a:t>Interactive Slicers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3666744"/>
            <a:ext cx="309981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A3744"/>
                </a:solidFill>
                <a:latin typeface="Aptos"/>
              </a:defRPr>
            </a:pPr>
            <a:r>
              <a:t>City, Room Class, Booking Status and Platform filters for focused analysis.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25196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0" y="4251960"/>
            <a:ext cx="3429000" cy="54864"/>
          </a:xfrm>
          <a:prstGeom prst="rect">
            <a:avLst/>
          </a:prstGeom>
          <a:solidFill>
            <a:srgbClr val="705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94192" y="4398264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A43"/>
                </a:solidFill>
                <a:latin typeface="Aptos"/>
              </a:defRPr>
            </a:pPr>
            <a:r>
              <a:t>Charts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764024"/>
            <a:ext cx="309981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A3744"/>
                </a:solidFill>
                <a:latin typeface="Aptos"/>
              </a:defRPr>
            </a:pPr>
            <a:r>
              <a:t>Bar and comparison charts for city revenue, booking status, platforms and room classes.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413248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F2A43"/>
                </a:solidFill>
                <a:latin typeface="Aptos"/>
              </a:defRPr>
            </a:pPr>
            <a:r>
              <a:t>Excel Work Completed_x000B_Data preparation • KPI calculations • pivot analysis • dashboard formatting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11112"/>
            <a:ext cx="12191999" cy="24688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6629400"/>
            <a:ext cx="2632452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Aptos"/>
              </a:defRPr>
            </a:pPr>
            <a:r>
              <a:rPr dirty="0"/>
              <a:t>Hospitality Analytics | Project Presentation | </a:t>
            </a:r>
            <a:r>
              <a:rPr lang="en-IN" dirty="0"/>
              <a:t>Group 4</a:t>
            </a:r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11155680" y="6620256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D29FF9-0A3F-0147-84E4-3591736E5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68" y="1370224"/>
            <a:ext cx="7498079" cy="43813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18872"/>
            <a:ext cx="79552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POWER BI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64592"/>
            <a:ext cx="3611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4D8E3"/>
                </a:solidFill>
                <a:latin typeface="Aptos"/>
              </a:defRPr>
            </a:pPr>
            <a:r>
              <a:t>Power Query | Data Model | DAX | Interactive Visuals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"/>
            <a:ext cx="12191999" cy="64008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7498079" cy="411480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024128"/>
            <a:ext cx="7168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HOSPITALITY DASHBOARD SCREENSHOT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96012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960120"/>
            <a:ext cx="3429000" cy="54864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94192" y="1106424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A43"/>
                </a:solidFill>
                <a:latin typeface="Aptos"/>
              </a:defRPr>
            </a:pPr>
            <a:r>
              <a:t>Data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1373864"/>
            <a:ext cx="309981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A3744"/>
                </a:solidFill>
                <a:latin typeface="Aptos"/>
              </a:defRPr>
            </a:pPr>
            <a:r>
              <a:rPr dirty="0"/>
              <a:t>Booking facts linked with hotel, room and date dimensions; aggregated bookings support capacity and occupancy analysis.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05740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2057400"/>
            <a:ext cx="3429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2203704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A43"/>
                </a:solidFill>
                <a:latin typeface="Aptos"/>
              </a:defRPr>
            </a:pPr>
            <a:r>
              <a:t>Power 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569464"/>
            <a:ext cx="309981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A3744"/>
                </a:solidFill>
                <a:latin typeface="Aptos"/>
              </a:defRPr>
            </a:pPr>
            <a:r>
              <a:t>Prepared booking and aggregated-booking data for the analytical model.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15468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0" y="3154680"/>
            <a:ext cx="3429000" cy="54864"/>
          </a:xfrm>
          <a:prstGeom prst="rect">
            <a:avLst/>
          </a:prstGeom>
          <a:solidFill>
            <a:srgbClr val="1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94192" y="3300984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A43"/>
                </a:solidFill>
                <a:latin typeface="Aptos"/>
              </a:defRPr>
            </a:pPr>
            <a:r>
              <a:t>DAX &amp; KPIs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3666744"/>
            <a:ext cx="309981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A3744"/>
                </a:solidFill>
                <a:latin typeface="Aptos"/>
              </a:defRPr>
            </a:pPr>
            <a:r>
              <a:t>Revenue, ADR, RevPAR, Occupancy, Realisation, Cancellation and No Show KPIs.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25196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0" y="4251960"/>
            <a:ext cx="3429000" cy="54864"/>
          </a:xfrm>
          <a:prstGeom prst="rect">
            <a:avLst/>
          </a:prstGeom>
          <a:solidFill>
            <a:srgbClr val="705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94192" y="4398264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A43"/>
                </a:solidFill>
                <a:latin typeface="Aptos"/>
              </a:defRPr>
            </a:pPr>
            <a:r>
              <a:t>Interactive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764024"/>
            <a:ext cx="309981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A3744"/>
                </a:solidFill>
                <a:latin typeface="Aptos"/>
              </a:defRPr>
            </a:pPr>
            <a:r>
              <a:t>City, Hotel, Room Class and Date filters with hotel, booking and channel analysis.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413248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F2A43"/>
                </a:solidFill>
                <a:latin typeface="Aptos"/>
              </a:defRPr>
            </a:pPr>
            <a:r>
              <a:t>Power BI Work Completed_x000B_Modeling • DAX measures • KPI cards • interactive visual storytelling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11112"/>
            <a:ext cx="12191999" cy="24688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6629400"/>
            <a:ext cx="2632452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Aptos"/>
              </a:defRPr>
            </a:pPr>
            <a:r>
              <a:rPr dirty="0"/>
              <a:t>Hospitality Analytics | Project Presentation | </a:t>
            </a:r>
            <a:r>
              <a:rPr lang="en-IN" dirty="0"/>
              <a:t>Group 4</a:t>
            </a:r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11155680" y="6620256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83B1FC-59ED-B17D-AA4A-F2FB56FF1E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56" t="20856" r="30141" b="8757"/>
          <a:stretch>
            <a:fillRect/>
          </a:stretch>
        </p:blipFill>
        <p:spPr>
          <a:xfrm>
            <a:off x="458078" y="1543028"/>
            <a:ext cx="3936941" cy="258091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588788E-B997-A060-DD51-E532AA9A76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96" t="17232" r="29577" b="6086"/>
          <a:stretch>
            <a:fillRect/>
          </a:stretch>
        </p:blipFill>
        <p:spPr>
          <a:xfrm>
            <a:off x="4395020" y="1543028"/>
            <a:ext cx="3605980" cy="257177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1E28D50-B388-122B-7639-9EE84CD4D7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15" t="19435" r="30275" b="6276"/>
          <a:stretch>
            <a:fillRect/>
          </a:stretch>
        </p:blipFill>
        <p:spPr>
          <a:xfrm>
            <a:off x="502921" y="4059936"/>
            <a:ext cx="7498078" cy="2344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60E93-9873-D344-CDAC-9F2DB7992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47C4E9-6AE0-D9FF-3B7D-F58733AF7122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E3D982-E2C2-9F7F-82C0-4DD857C71856}"/>
              </a:ext>
            </a:extLst>
          </p:cNvPr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F37938-D651-1D96-1258-A6B5414E576F}"/>
              </a:ext>
            </a:extLst>
          </p:cNvPr>
          <p:cNvSpPr txBox="1"/>
          <p:nvPr/>
        </p:nvSpPr>
        <p:spPr>
          <a:xfrm>
            <a:off x="438912" y="118872"/>
            <a:ext cx="332950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9FC"/>
                </a:solidFill>
                <a:latin typeface="Aptos"/>
              </a:rPr>
              <a:t>TABLEAU DASHBOARD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1BED30-7D1E-7B81-4EC0-CAFAD3ADF641}"/>
              </a:ext>
            </a:extLst>
          </p:cNvPr>
          <p:cNvSpPr txBox="1"/>
          <p:nvPr/>
        </p:nvSpPr>
        <p:spPr>
          <a:xfrm>
            <a:off x="8138160" y="164592"/>
            <a:ext cx="370005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FC5D6"/>
                </a:solidFill>
                <a:latin typeface="Aptos"/>
              </a:rPr>
              <a:t>Tableau | Calculated Fields • Filters • Interactive Visualizations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341045-FDC4-E528-46E2-069797233746}"/>
              </a:ext>
            </a:extLst>
          </p:cNvPr>
          <p:cNvSpPr/>
          <p:nvPr/>
        </p:nvSpPr>
        <p:spPr>
          <a:xfrm>
            <a:off x="0" y="658368"/>
            <a:ext cx="12191999" cy="64008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1C4920-7092-7204-1A29-8A882B194FEA}"/>
              </a:ext>
            </a:extLst>
          </p:cNvPr>
          <p:cNvSpPr/>
          <p:nvPr/>
        </p:nvSpPr>
        <p:spPr>
          <a:xfrm>
            <a:off x="502920" y="960120"/>
            <a:ext cx="7498079" cy="411480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0ED723-B4AB-5FFC-91C6-EF01E8104FEC}"/>
              </a:ext>
            </a:extLst>
          </p:cNvPr>
          <p:cNvSpPr txBox="1"/>
          <p:nvPr/>
        </p:nvSpPr>
        <p:spPr>
          <a:xfrm>
            <a:off x="667512" y="1024128"/>
            <a:ext cx="7168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TABLEAU DASHBOARD SCREENSHOT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A25655E-8E7F-51A7-E758-9B4C54BEE4C8}"/>
              </a:ext>
            </a:extLst>
          </p:cNvPr>
          <p:cNvSpPr/>
          <p:nvPr/>
        </p:nvSpPr>
        <p:spPr>
          <a:xfrm>
            <a:off x="8229600" y="96012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CEEA7A-719F-2169-A8E4-858544BF52F9}"/>
              </a:ext>
            </a:extLst>
          </p:cNvPr>
          <p:cNvSpPr/>
          <p:nvPr/>
        </p:nvSpPr>
        <p:spPr>
          <a:xfrm>
            <a:off x="8229600" y="960120"/>
            <a:ext cx="3429000" cy="54864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7A981B-DC92-A6E9-B84E-EE484F7ACC3F}"/>
              </a:ext>
            </a:extLst>
          </p:cNvPr>
          <p:cNvSpPr txBox="1"/>
          <p:nvPr/>
        </p:nvSpPr>
        <p:spPr>
          <a:xfrm>
            <a:off x="8394192" y="1106424"/>
            <a:ext cx="32644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A43"/>
                </a:solidFill>
                <a:latin typeface="Aptos"/>
              </a:defRPr>
            </a:pPr>
            <a:r>
              <a:rPr lang="en-IN" sz="1400" b="1" dirty="0">
                <a:solidFill>
                  <a:srgbClr val="0F2A43"/>
                </a:solidFill>
                <a:latin typeface="Aptos"/>
              </a:rPr>
              <a:t>DATA CONNECTION &amp; PREPARATION</a:t>
            </a:r>
            <a:endParaRPr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314C55-5C8C-3694-CC9C-989AEB63319E}"/>
              </a:ext>
            </a:extLst>
          </p:cNvPr>
          <p:cNvSpPr txBox="1"/>
          <p:nvPr/>
        </p:nvSpPr>
        <p:spPr>
          <a:xfrm>
            <a:off x="8394192" y="1364032"/>
            <a:ext cx="326440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2A3744"/>
                </a:solidFill>
                <a:latin typeface="Aptos"/>
              </a:defRPr>
            </a:pPr>
            <a:r>
              <a:rPr sz="1050" dirty="0">
                <a:solidFill>
                  <a:srgbClr val="2A3744"/>
                </a:solidFill>
                <a:latin typeface="Aptos"/>
              </a:rPr>
              <a:t>Connected the hospitality analytics MySQL database and prepared fact/dimension data for Tableau analysis.</a:t>
            </a:r>
            <a:endParaRPr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BAB8F29-1479-2633-5319-C99FCE35195C}"/>
              </a:ext>
            </a:extLst>
          </p:cNvPr>
          <p:cNvSpPr/>
          <p:nvPr/>
        </p:nvSpPr>
        <p:spPr>
          <a:xfrm>
            <a:off x="8229600" y="205740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2461F7-D96C-5EDE-D27B-ADBA3D412D64}"/>
              </a:ext>
            </a:extLst>
          </p:cNvPr>
          <p:cNvSpPr/>
          <p:nvPr/>
        </p:nvSpPr>
        <p:spPr>
          <a:xfrm>
            <a:off x="8229600" y="2057400"/>
            <a:ext cx="3429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1984BF-50F5-4D13-7A4D-4A51E3BB2405}"/>
              </a:ext>
            </a:extLst>
          </p:cNvPr>
          <p:cNvSpPr txBox="1"/>
          <p:nvPr/>
        </p:nvSpPr>
        <p:spPr>
          <a:xfrm>
            <a:off x="8394192" y="2203704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A43"/>
                </a:solidFill>
                <a:latin typeface="Aptos"/>
              </a:defRPr>
            </a:pPr>
            <a:r>
              <a:rPr lang="en-IN" sz="1400" b="1" dirty="0">
                <a:solidFill>
                  <a:srgbClr val="0F2A43"/>
                </a:solidFill>
                <a:latin typeface="Aptos"/>
              </a:rPr>
              <a:t>DATA MODELING</a:t>
            </a:r>
            <a:endParaRPr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B69792-3BEA-9316-CF8D-EE4550A009A2}"/>
              </a:ext>
            </a:extLst>
          </p:cNvPr>
          <p:cNvSpPr txBox="1"/>
          <p:nvPr/>
        </p:nvSpPr>
        <p:spPr>
          <a:xfrm>
            <a:off x="8394192" y="2569464"/>
            <a:ext cx="309981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2A3744"/>
                </a:solidFill>
                <a:latin typeface="Aptos"/>
              </a:defRPr>
            </a:pPr>
            <a:r>
              <a:rPr sz="1050">
                <a:solidFill>
                  <a:srgbClr val="2A3744"/>
                </a:solidFill>
                <a:latin typeface="Aptos"/>
              </a:rPr>
              <a:t>Used fact bookings, aggregated bookings, hotel, room and date tables for hospitality analysis.</a:t>
            </a:r>
            <a:endParaRPr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E693966-A85E-4634-AD83-B51FE8551210}"/>
              </a:ext>
            </a:extLst>
          </p:cNvPr>
          <p:cNvSpPr/>
          <p:nvPr/>
        </p:nvSpPr>
        <p:spPr>
          <a:xfrm>
            <a:off x="8229600" y="315468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DEF6D7-FF40-1A85-684C-688F8999E5F9}"/>
              </a:ext>
            </a:extLst>
          </p:cNvPr>
          <p:cNvSpPr/>
          <p:nvPr/>
        </p:nvSpPr>
        <p:spPr>
          <a:xfrm>
            <a:off x="8229600" y="3154680"/>
            <a:ext cx="3429000" cy="54864"/>
          </a:xfrm>
          <a:prstGeom prst="rect">
            <a:avLst/>
          </a:prstGeom>
          <a:solidFill>
            <a:srgbClr val="1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7E3FDE-E9E3-93C7-29F8-DED49020536E}"/>
              </a:ext>
            </a:extLst>
          </p:cNvPr>
          <p:cNvSpPr txBox="1"/>
          <p:nvPr/>
        </p:nvSpPr>
        <p:spPr>
          <a:xfrm>
            <a:off x="8394192" y="3300984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A43"/>
                </a:solidFill>
                <a:latin typeface="Aptos"/>
              </a:defRPr>
            </a:pPr>
            <a:r>
              <a:rPr lang="en-IN" sz="1400" b="1" dirty="0">
                <a:solidFill>
                  <a:srgbClr val="0F2A43"/>
                </a:solidFill>
                <a:latin typeface="Aptos"/>
              </a:rPr>
              <a:t>CALCULATED FIELDS &amp; KPIs</a:t>
            </a:r>
            <a:endParaRPr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C6F9FE-E8A8-82EF-3348-AEF38651CA1B}"/>
              </a:ext>
            </a:extLst>
          </p:cNvPr>
          <p:cNvSpPr txBox="1"/>
          <p:nvPr/>
        </p:nvSpPr>
        <p:spPr>
          <a:xfrm>
            <a:off x="8394192" y="3666744"/>
            <a:ext cx="326440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2A3744"/>
                </a:solidFill>
                <a:latin typeface="Aptos"/>
              </a:defRPr>
            </a:pPr>
            <a:r>
              <a:rPr sz="1050">
                <a:solidFill>
                  <a:srgbClr val="2A3744"/>
                </a:solidFill>
                <a:latin typeface="Aptos"/>
              </a:rPr>
              <a:t>Created analytical views for bookings, revenue, room class, platform, payment method and channel.</a:t>
            </a:r>
            <a:endParaRPr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CD1732F-A8F2-BACF-65C3-1878D9F99F2C}"/>
              </a:ext>
            </a:extLst>
          </p:cNvPr>
          <p:cNvSpPr/>
          <p:nvPr/>
        </p:nvSpPr>
        <p:spPr>
          <a:xfrm>
            <a:off x="8229600" y="425196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6F7C8A-4C70-E17C-E759-303D9A58CFBB}"/>
              </a:ext>
            </a:extLst>
          </p:cNvPr>
          <p:cNvSpPr/>
          <p:nvPr/>
        </p:nvSpPr>
        <p:spPr>
          <a:xfrm>
            <a:off x="8229600" y="4251960"/>
            <a:ext cx="3429000" cy="54864"/>
          </a:xfrm>
          <a:prstGeom prst="rect">
            <a:avLst/>
          </a:prstGeom>
          <a:solidFill>
            <a:srgbClr val="705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813DD2-62E4-712F-12B4-6BBA6DCDB113}"/>
              </a:ext>
            </a:extLst>
          </p:cNvPr>
          <p:cNvSpPr txBox="1"/>
          <p:nvPr/>
        </p:nvSpPr>
        <p:spPr>
          <a:xfrm>
            <a:off x="8394192" y="4398264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A43"/>
                </a:solidFill>
                <a:latin typeface="Aptos"/>
              </a:defRPr>
            </a:pPr>
            <a:r>
              <a:rPr dirty="0"/>
              <a:t>Interactive Dashboard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BF9025-8D75-DCBB-4523-53532007D30F}"/>
              </a:ext>
            </a:extLst>
          </p:cNvPr>
          <p:cNvSpPr txBox="1"/>
          <p:nvPr/>
        </p:nvSpPr>
        <p:spPr>
          <a:xfrm>
            <a:off x="8394192" y="4646035"/>
            <a:ext cx="326440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2A3744"/>
                </a:solidFill>
                <a:latin typeface="Aptos"/>
              </a:defRPr>
            </a:pPr>
            <a:r>
              <a:rPr sz="1050" dirty="0">
                <a:solidFill>
                  <a:srgbClr val="2A3744"/>
                </a:solidFill>
                <a:latin typeface="Aptos"/>
              </a:rPr>
              <a:t>Interactive filters and visualizations for hotel, room class, booking platform, payment method and revenue.</a:t>
            </a:r>
            <a:endParaRPr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B790BF-3CD0-6143-AF24-5F0A99CAC905}"/>
              </a:ext>
            </a:extLst>
          </p:cNvPr>
          <p:cNvSpPr txBox="1"/>
          <p:nvPr/>
        </p:nvSpPr>
        <p:spPr>
          <a:xfrm>
            <a:off x="8229600" y="5413248"/>
            <a:ext cx="342900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2A43"/>
                </a:solidFill>
                <a:latin typeface="Aptos"/>
              </a:defRPr>
            </a:pPr>
            <a:r>
              <a:rPr sz="1050" b="1">
                <a:solidFill>
                  <a:srgbClr val="0F2A43"/>
                </a:solidFill>
                <a:latin typeface="Aptos"/>
              </a:rPr>
              <a:t>Tableau Work Completed_x000B_Data Connection • Calculated Fields • KPI Analysis • Interactive Visual Storytelling</a:t>
            </a:r>
            <a:endParaRPr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AC35794-C011-6404-56BF-0417F8CA69EB}"/>
              </a:ext>
            </a:extLst>
          </p:cNvPr>
          <p:cNvSpPr/>
          <p:nvPr/>
        </p:nvSpPr>
        <p:spPr>
          <a:xfrm>
            <a:off x="0" y="6611112"/>
            <a:ext cx="12191999" cy="24688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C9AAD3-25C9-C9DF-6A73-F69110F6EF93}"/>
              </a:ext>
            </a:extLst>
          </p:cNvPr>
          <p:cNvSpPr txBox="1"/>
          <p:nvPr/>
        </p:nvSpPr>
        <p:spPr>
          <a:xfrm>
            <a:off x="411480" y="6629400"/>
            <a:ext cx="2632452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Aptos"/>
              </a:defRPr>
            </a:pPr>
            <a:r>
              <a:rPr dirty="0"/>
              <a:t>Hospitality Analytics | Project Presentation | </a:t>
            </a:r>
            <a:r>
              <a:rPr lang="en-IN" dirty="0"/>
              <a:t>Group 4</a:t>
            </a:r>
            <a:endParaRPr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EEF58C-3CB4-EE55-F8E4-1A36837A9FCB}"/>
              </a:ext>
            </a:extLst>
          </p:cNvPr>
          <p:cNvSpPr txBox="1"/>
          <p:nvPr/>
        </p:nvSpPr>
        <p:spPr>
          <a:xfrm>
            <a:off x="11155680" y="6620256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CDDF9B-4336-2DDE-1A35-397789A7A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95124"/>
            <a:ext cx="7498079" cy="4356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455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37160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sz="1900" b="1">
                <a:solidFill>
                  <a:srgbClr val="14305F"/>
                </a:solidFill>
                <a:latin typeface="Aptos Display"/>
              </a:rPr>
              <a:t>SQL DATABASE SETUP &amp; DATA LOADING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10058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73152" rtlCol="0" anchor="ctr"/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t>Hospitality Analytics | SQL Analysis | Group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0789920" cy="228600"/>
          </a:xfrm>
          <a:prstGeom prst="rect">
            <a:avLst/>
          </a:prstGeom>
          <a:noFill/>
        </p:spPr>
        <p:txBody>
          <a:bodyPr wrap="square" bIns="27432">
            <a:spAutoFit/>
          </a:bodyPr>
          <a:lstStyle/>
          <a:p>
            <a:r>
              <a:rPr sz="950" b="1">
                <a:solidFill>
                  <a:srgbClr val="A0AFBE"/>
                </a:solidFill>
                <a:latin typeface="Aptos"/>
              </a:rPr>
              <a:t>SQL SCRIPT — DATABASE SETUP &amp; FACT TABLE LOADING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53312"/>
            <a:ext cx="3520440" cy="4526280"/>
          </a:xfrm>
          <a:prstGeom prst="roundRect">
            <a:avLst/>
          </a:prstGeom>
          <a:solidFill>
            <a:srgbClr val="101822"/>
          </a:solidFill>
          <a:ln w="8890">
            <a:solidFill>
              <a:srgbClr val="36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1426464"/>
            <a:ext cx="3300984" cy="274320"/>
          </a:xfrm>
          <a:prstGeom prst="rect">
            <a:avLst/>
          </a:prstGeom>
          <a:noFill/>
        </p:spPr>
        <p:txBody>
          <a:bodyPr wrap="square" bIns="27432">
            <a:spAutoFit/>
          </a:bodyPr>
          <a:lstStyle/>
          <a:p>
            <a:r>
              <a:rPr sz="1100" b="1">
                <a:solidFill>
                  <a:srgbClr val="68BEFF"/>
                </a:solidFill>
                <a:latin typeface="Aptos"/>
              </a:rPr>
              <a:t>01 — DATABASE &amp; SETTINGS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737360"/>
            <a:ext cx="3300984" cy="4087368"/>
          </a:xfrm>
          <a:prstGeom prst="rect">
            <a:avLst/>
          </a:prstGeom>
          <a:noFill/>
        </p:spPr>
        <p:txBody>
          <a:bodyPr wrap="square" bIns="27432">
            <a:spAutoFit/>
          </a:bodyPr>
          <a:lstStyle/>
          <a:p>
            <a:r>
              <a:rPr sz="960" b="0">
                <a:solidFill>
                  <a:srgbClr val="E8EDF2"/>
                </a:solidFill>
                <a:latin typeface="Consolas"/>
              </a:rPr>
              <a:t>CREATE DATABASE shodwe_hotels;
USE shodwe_hotels;
-- To off Safe updates
SET SQL_SAFE_UPDATES = 0;
-- Enable Load local data
SET GLOBAL local_infile = 1;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353312"/>
            <a:ext cx="3703320" cy="4526280"/>
          </a:xfrm>
          <a:prstGeom prst="roundRect">
            <a:avLst/>
          </a:prstGeom>
          <a:solidFill>
            <a:srgbClr val="101822"/>
          </a:solidFill>
          <a:ln w="8890">
            <a:solidFill>
              <a:srgbClr val="36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70248" y="1426464"/>
            <a:ext cx="3483863" cy="274320"/>
          </a:xfrm>
          <a:prstGeom prst="rect">
            <a:avLst/>
          </a:prstGeom>
          <a:noFill/>
        </p:spPr>
        <p:txBody>
          <a:bodyPr wrap="square" bIns="27432">
            <a:spAutoFit/>
          </a:bodyPr>
          <a:lstStyle/>
          <a:p>
            <a:r>
              <a:rPr sz="1100" b="1">
                <a:solidFill>
                  <a:srgbClr val="68BEFF"/>
                </a:solidFill>
                <a:latin typeface="Aptos"/>
              </a:rPr>
              <a:t>02 — CREATE fact_bookings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8" y="1737360"/>
            <a:ext cx="3483863" cy="4087368"/>
          </a:xfrm>
          <a:prstGeom prst="rect">
            <a:avLst/>
          </a:prstGeom>
          <a:noFill/>
        </p:spPr>
        <p:txBody>
          <a:bodyPr wrap="square" bIns="27432">
            <a:spAutoFit/>
          </a:bodyPr>
          <a:lstStyle/>
          <a:p>
            <a:r>
              <a:rPr sz="850" b="0">
                <a:solidFill>
                  <a:srgbClr val="E8EDF2"/>
                </a:solidFill>
                <a:latin typeface="Consolas"/>
              </a:rPr>
              <a:t>CREATE TABLE fact_bookings (
    booking_id VARCHAR(50),
    property_id INT,
    booking_date DATE,
    check_in_date DATE,
    checkout_date DATE,
    no_guests INT,
    room_category VARCHAR(10),
    booking_platform VARCHAR(50),
    ratings_given DECIMAL(3,1),
    booking_status VARCHAR(30),
    revenue_generated DECIMAL(15,2),
    revenue_realized DECIMAL(15,2),
    customer_id VARCHAR(50),
    payment_method VARCHAR(50),
    stay_duration INT,
    cancellation_reason VARCHAR(255),
    is_loyalty_member VARCHAR(10),
    country VARCHAR(100),
    customer_age INT,
    special_requests INT,
    discount_applied DECIMAL(10,2),
    booking_channel VARCHAR(50)
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353312"/>
            <a:ext cx="3685032" cy="4526280"/>
          </a:xfrm>
          <a:prstGeom prst="roundRect">
            <a:avLst/>
          </a:prstGeom>
          <a:solidFill>
            <a:srgbClr val="101822"/>
          </a:solidFill>
          <a:ln w="8890">
            <a:solidFill>
              <a:srgbClr val="36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10727" y="1426464"/>
            <a:ext cx="3465576" cy="274320"/>
          </a:xfrm>
          <a:prstGeom prst="rect">
            <a:avLst/>
          </a:prstGeom>
          <a:noFill/>
        </p:spPr>
        <p:txBody>
          <a:bodyPr wrap="square" bIns="27432">
            <a:spAutoFit/>
          </a:bodyPr>
          <a:lstStyle/>
          <a:p>
            <a:r>
              <a:rPr sz="1100" b="1">
                <a:solidFill>
                  <a:srgbClr val="68BEFF"/>
                </a:solidFill>
                <a:latin typeface="Aptos"/>
              </a:rPr>
              <a:t>03 — LOAD fact_bookings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0727" y="1737360"/>
            <a:ext cx="3465576" cy="4087368"/>
          </a:xfrm>
          <a:prstGeom prst="rect">
            <a:avLst/>
          </a:prstGeom>
          <a:noFill/>
        </p:spPr>
        <p:txBody>
          <a:bodyPr wrap="square" bIns="27432">
            <a:spAutoFit/>
          </a:bodyPr>
          <a:lstStyle/>
          <a:p>
            <a:r>
              <a:rPr sz="819" b="0">
                <a:solidFill>
                  <a:srgbClr val="E8EDF2"/>
                </a:solidFill>
                <a:latin typeface="Consolas"/>
              </a:rPr>
              <a:t>-- loaded required files using import wizard
-- importing fact_bookings
LOAD DATA LOCAL INFILE 'C:/Users/gnana/Downloads/1789015204028_Hospitality Data/Hospitality Data/Data/fact_bookings.csv'
INTO TABLE fact_bookings
FIELDS TERMINATED BY ','
OPTIONALLY ENCLOSED BY '"'
LINES TERMINATED BY '\r\n'
IGNORE 1 ROWS
(
    booking_id, property_id, booking_date, check_in_date,
    checkout_date, no_guests, room_category, booking_platform,
    ratings_given, booking_status, revenue_generated, revenue_realized,
    customer_id, payment_method, stay_duration, cancellation_reason,
    is_loyalty_member, country, customer_age, special_requests,
    discount_applied, booking_channel
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37160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5F7FA"/>
                </a:solidFill>
                <a:latin typeface="Aptos Display"/>
              </a:rPr>
              <a:t>SQL — DATE RELATIONSHIPS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10058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73152" rtlCol="0" anchor="ctr"/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t>Hospitality Analytics | SQL Analysis | Group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0789920" cy="228600"/>
          </a:xfrm>
          <a:prstGeom prst="rect">
            <a:avLst/>
          </a:prstGeom>
          <a:noFill/>
        </p:spPr>
        <p:txBody>
          <a:bodyPr wrap="square" bIns="27432">
            <a:spAutoFit/>
          </a:bodyPr>
          <a:lstStyle/>
          <a:p>
            <a:r>
              <a:rPr sz="950" b="1">
                <a:solidFill>
                  <a:srgbClr val="A0AFBE"/>
                </a:solidFill>
                <a:latin typeface="Aptos"/>
              </a:rPr>
              <a:t>Hospitality Analytics | SQL Analysis | Date → Fact relationships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53312"/>
            <a:ext cx="5532120" cy="4526280"/>
          </a:xfrm>
          <a:prstGeom prst="roundRect">
            <a:avLst/>
          </a:prstGeom>
          <a:solidFill>
            <a:srgbClr val="101822"/>
          </a:solidFill>
          <a:ln w="8890">
            <a:solidFill>
              <a:srgbClr val="36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844138"/>
            <a:ext cx="5312664" cy="274320"/>
          </a:xfrm>
          <a:prstGeom prst="rect">
            <a:avLst/>
          </a:prstGeom>
          <a:noFill/>
        </p:spPr>
        <p:txBody>
          <a:bodyPr wrap="square" bIns="27432">
            <a:spAutoFit/>
          </a:bodyPr>
          <a:lstStyle/>
          <a:p>
            <a:r>
              <a:rPr sz="1100" b="1">
                <a:solidFill>
                  <a:srgbClr val="68BEFF"/>
                </a:solidFill>
                <a:latin typeface="Aptos"/>
              </a:rPr>
              <a:t>01 — Date → fact_bookings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64762"/>
            <a:ext cx="5312664" cy="4087368"/>
          </a:xfrm>
          <a:prstGeom prst="rect">
            <a:avLst/>
          </a:prstGeom>
          <a:noFill/>
        </p:spPr>
        <p:txBody>
          <a:bodyPr wrap="square" bIns="27432">
            <a:spAutoFit/>
          </a:bodyPr>
          <a:lstStyle/>
          <a:p>
            <a:r>
              <a:rPr sz="950" b="0" dirty="0">
                <a:solidFill>
                  <a:srgbClr val="E8EDF2"/>
                </a:solidFill>
                <a:latin typeface="Consolas"/>
              </a:rPr>
              <a:t>-- Date → </a:t>
            </a:r>
            <a:r>
              <a:rPr sz="950" b="0" dirty="0" err="1">
                <a:solidFill>
                  <a:srgbClr val="E8EDF2"/>
                </a:solidFill>
                <a:latin typeface="Consolas"/>
              </a:rPr>
              <a:t>fact_bookings</a:t>
            </a:r>
            <a:r>
              <a:rPr sz="950" b="0" dirty="0">
                <a:solidFill>
                  <a:srgbClr val="E8EDF2"/>
                </a:solidFill>
                <a:latin typeface="Consolas"/>
              </a:rPr>
              <a:t>
ALTER TABLE </a:t>
            </a:r>
            <a:r>
              <a:rPr sz="950" b="0" dirty="0" err="1">
                <a:solidFill>
                  <a:srgbClr val="E8EDF2"/>
                </a:solidFill>
                <a:latin typeface="Consolas"/>
              </a:rPr>
              <a:t>dim_date</a:t>
            </a:r>
            <a:r>
              <a:rPr sz="950" b="0" dirty="0">
                <a:solidFill>
                  <a:srgbClr val="E8EDF2"/>
                </a:solidFill>
                <a:latin typeface="Consolas"/>
              </a:rPr>
              <a:t>
ADD COLUMN </a:t>
            </a:r>
            <a:r>
              <a:rPr sz="950" b="0" dirty="0" err="1">
                <a:solidFill>
                  <a:srgbClr val="E8EDF2"/>
                </a:solidFill>
                <a:latin typeface="Consolas"/>
              </a:rPr>
              <a:t>date_new</a:t>
            </a:r>
            <a:r>
              <a:rPr sz="950" b="0" dirty="0">
                <a:solidFill>
                  <a:srgbClr val="E8EDF2"/>
                </a:solidFill>
                <a:latin typeface="Consolas"/>
              </a:rPr>
              <a:t> DATE;
UPDATE </a:t>
            </a:r>
            <a:r>
              <a:rPr sz="950" b="0" dirty="0" err="1">
                <a:solidFill>
                  <a:srgbClr val="E8EDF2"/>
                </a:solidFill>
                <a:latin typeface="Consolas"/>
              </a:rPr>
              <a:t>dim_date</a:t>
            </a:r>
            <a:r>
              <a:rPr sz="950" b="0" dirty="0">
                <a:solidFill>
                  <a:srgbClr val="E8EDF2"/>
                </a:solidFill>
                <a:latin typeface="Consolas"/>
              </a:rPr>
              <a:t>
SET </a:t>
            </a:r>
            <a:r>
              <a:rPr sz="950" b="0" dirty="0" err="1">
                <a:solidFill>
                  <a:srgbClr val="E8EDF2"/>
                </a:solidFill>
                <a:latin typeface="Consolas"/>
              </a:rPr>
              <a:t>date_new</a:t>
            </a:r>
            <a:r>
              <a:rPr sz="950" b="0" dirty="0">
                <a:solidFill>
                  <a:srgbClr val="E8EDF2"/>
                </a:solidFill>
                <a:latin typeface="Consolas"/>
              </a:rPr>
              <a:t> = STR_TO_DATE(`date`, '%d-%b-%y');
SELECT `date`, </a:t>
            </a:r>
            <a:r>
              <a:rPr sz="950" b="0" dirty="0" err="1">
                <a:solidFill>
                  <a:srgbClr val="E8EDF2"/>
                </a:solidFill>
                <a:latin typeface="Consolas"/>
              </a:rPr>
              <a:t>date_new</a:t>
            </a:r>
            <a:r>
              <a:rPr sz="950" b="0" dirty="0">
                <a:solidFill>
                  <a:srgbClr val="E8EDF2"/>
                </a:solidFill>
                <a:latin typeface="Consolas"/>
              </a:rPr>
              <a:t>
FROM </a:t>
            </a:r>
            <a:r>
              <a:rPr sz="950" b="0" dirty="0" err="1">
                <a:solidFill>
                  <a:srgbClr val="E8EDF2"/>
                </a:solidFill>
                <a:latin typeface="Consolas"/>
              </a:rPr>
              <a:t>dim_date</a:t>
            </a:r>
            <a:r>
              <a:rPr sz="950" b="0" dirty="0">
                <a:solidFill>
                  <a:srgbClr val="E8EDF2"/>
                </a:solidFill>
                <a:latin typeface="Consolas"/>
              </a:rPr>
              <a:t>
LIMIT 10;
ALTER TABLE </a:t>
            </a:r>
            <a:r>
              <a:rPr sz="950" b="0" dirty="0" err="1">
                <a:solidFill>
                  <a:srgbClr val="E8EDF2"/>
                </a:solidFill>
                <a:latin typeface="Consolas"/>
              </a:rPr>
              <a:t>dim_date</a:t>
            </a:r>
            <a:r>
              <a:rPr sz="950" b="0" dirty="0">
                <a:solidFill>
                  <a:srgbClr val="E8EDF2"/>
                </a:solidFill>
                <a:latin typeface="Consolas"/>
              </a:rPr>
              <a:t>
ADD PRIMARY KEY (`date`);
ALTER TABLE </a:t>
            </a:r>
            <a:r>
              <a:rPr sz="950" b="0" dirty="0" err="1">
                <a:solidFill>
                  <a:srgbClr val="E8EDF2"/>
                </a:solidFill>
                <a:latin typeface="Consolas"/>
              </a:rPr>
              <a:t>fact_bookings</a:t>
            </a:r>
            <a:r>
              <a:rPr sz="950" b="0" dirty="0">
                <a:solidFill>
                  <a:srgbClr val="E8EDF2"/>
                </a:solidFill>
                <a:latin typeface="Consolas"/>
              </a:rPr>
              <a:t>
ADD CONSTRAINT </a:t>
            </a:r>
            <a:r>
              <a:rPr sz="950" b="0" dirty="0" err="1">
                <a:solidFill>
                  <a:srgbClr val="E8EDF2"/>
                </a:solidFill>
                <a:latin typeface="Consolas"/>
              </a:rPr>
              <a:t>fk_booking_date</a:t>
            </a:r>
            <a:r>
              <a:rPr sz="950" b="0" dirty="0">
                <a:solidFill>
                  <a:srgbClr val="E8EDF2"/>
                </a:solidFill>
                <a:latin typeface="Consolas"/>
              </a:rPr>
              <a:t>
FOREIGN KEY (</a:t>
            </a:r>
            <a:r>
              <a:rPr sz="950" b="0" dirty="0" err="1">
                <a:solidFill>
                  <a:srgbClr val="E8EDF2"/>
                </a:solidFill>
                <a:latin typeface="Consolas"/>
              </a:rPr>
              <a:t>check_in_date</a:t>
            </a:r>
            <a:r>
              <a:rPr sz="950" b="0" dirty="0">
                <a:solidFill>
                  <a:srgbClr val="E8EDF2"/>
                </a:solidFill>
                <a:latin typeface="Consolas"/>
              </a:rPr>
              <a:t>)
REFERENCES </a:t>
            </a:r>
            <a:r>
              <a:rPr sz="950" b="0" dirty="0" err="1">
                <a:solidFill>
                  <a:srgbClr val="E8EDF2"/>
                </a:solidFill>
                <a:latin typeface="Consolas"/>
              </a:rPr>
              <a:t>dim_date</a:t>
            </a:r>
            <a:r>
              <a:rPr sz="950" b="0" dirty="0">
                <a:solidFill>
                  <a:srgbClr val="E8EDF2"/>
                </a:solidFill>
                <a:latin typeface="Consolas"/>
              </a:rPr>
              <a:t>(`date`);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53312"/>
            <a:ext cx="5477256" cy="4526280"/>
          </a:xfrm>
          <a:prstGeom prst="roundRect">
            <a:avLst/>
          </a:prstGeom>
          <a:solidFill>
            <a:srgbClr val="101822"/>
          </a:solidFill>
          <a:ln w="8890">
            <a:solidFill>
              <a:srgbClr val="36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5192" y="1701573"/>
            <a:ext cx="5257800" cy="274320"/>
          </a:xfrm>
          <a:prstGeom prst="rect">
            <a:avLst/>
          </a:prstGeom>
          <a:noFill/>
        </p:spPr>
        <p:txBody>
          <a:bodyPr wrap="square" bIns="27432">
            <a:spAutoFit/>
          </a:bodyPr>
          <a:lstStyle/>
          <a:p>
            <a:r>
              <a:rPr sz="1100" b="1" dirty="0">
                <a:solidFill>
                  <a:srgbClr val="68BEFF"/>
                </a:solidFill>
                <a:latin typeface="Aptos"/>
              </a:rPr>
              <a:t>02 — Date → </a:t>
            </a:r>
            <a:r>
              <a:rPr sz="1100" b="1" dirty="0" err="1">
                <a:solidFill>
                  <a:srgbClr val="68BEFF"/>
                </a:solidFill>
                <a:latin typeface="Aptos"/>
              </a:rPr>
              <a:t>fact_aggregated_bookings</a:t>
            </a:r>
            <a:endParaRPr sz="1100" b="1" dirty="0">
              <a:solidFill>
                <a:srgbClr val="68BE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18842" y="2101349"/>
            <a:ext cx="5257800" cy="4087368"/>
          </a:xfrm>
          <a:prstGeom prst="rect">
            <a:avLst/>
          </a:prstGeom>
          <a:noFill/>
        </p:spPr>
        <p:txBody>
          <a:bodyPr wrap="square" bIns="27432">
            <a:spAutoFit/>
          </a:bodyPr>
          <a:lstStyle/>
          <a:p>
            <a:r>
              <a:rPr sz="900" b="0" dirty="0">
                <a:solidFill>
                  <a:srgbClr val="E8EDF2"/>
                </a:solidFill>
                <a:latin typeface="Consolas"/>
              </a:rPr>
              <a:t>-- Date → </a:t>
            </a:r>
            <a:r>
              <a:rPr sz="900" b="0" dirty="0" err="1">
                <a:solidFill>
                  <a:srgbClr val="E8EDF2"/>
                </a:solidFill>
                <a:latin typeface="Consolas"/>
              </a:rPr>
              <a:t>fact_aggregated_bookings</a:t>
            </a:r>
            <a:r>
              <a:rPr sz="900" b="0" dirty="0">
                <a:solidFill>
                  <a:srgbClr val="E8EDF2"/>
                </a:solidFill>
                <a:latin typeface="Consolas"/>
              </a:rPr>
              <a:t>
DESCRIBE </a:t>
            </a:r>
            <a:r>
              <a:rPr sz="900" b="0" dirty="0" err="1">
                <a:solidFill>
                  <a:srgbClr val="E8EDF2"/>
                </a:solidFill>
                <a:latin typeface="Consolas"/>
              </a:rPr>
              <a:t>fact_aggregated_bookings</a:t>
            </a:r>
            <a:r>
              <a:rPr sz="900" b="0" dirty="0">
                <a:solidFill>
                  <a:srgbClr val="E8EDF2"/>
                </a:solidFill>
                <a:latin typeface="Consolas"/>
              </a:rPr>
              <a:t>;
ALTER TABLE </a:t>
            </a:r>
            <a:r>
              <a:rPr sz="900" b="0" dirty="0" err="1">
                <a:solidFill>
                  <a:srgbClr val="E8EDF2"/>
                </a:solidFill>
                <a:latin typeface="Consolas"/>
              </a:rPr>
              <a:t>fact_aggregated_bookings</a:t>
            </a:r>
            <a:r>
              <a:rPr sz="900" b="0" dirty="0">
                <a:solidFill>
                  <a:srgbClr val="E8EDF2"/>
                </a:solidFill>
                <a:latin typeface="Consolas"/>
              </a:rPr>
              <a:t>
ADD COLUMN </a:t>
            </a:r>
            <a:r>
              <a:rPr sz="900" b="0" dirty="0" err="1">
                <a:solidFill>
                  <a:srgbClr val="E8EDF2"/>
                </a:solidFill>
                <a:latin typeface="Consolas"/>
              </a:rPr>
              <a:t>check_in_date_new</a:t>
            </a:r>
            <a:r>
              <a:rPr sz="900" b="0" dirty="0">
                <a:solidFill>
                  <a:srgbClr val="E8EDF2"/>
                </a:solidFill>
                <a:latin typeface="Consolas"/>
              </a:rPr>
              <a:t> DATE;
UPDATE </a:t>
            </a:r>
            <a:r>
              <a:rPr sz="900" b="0" dirty="0" err="1">
                <a:solidFill>
                  <a:srgbClr val="E8EDF2"/>
                </a:solidFill>
                <a:latin typeface="Consolas"/>
              </a:rPr>
              <a:t>fact_aggregated_bookings</a:t>
            </a:r>
            <a:r>
              <a:rPr sz="900" b="0" dirty="0">
                <a:solidFill>
                  <a:srgbClr val="E8EDF2"/>
                </a:solidFill>
                <a:latin typeface="Consolas"/>
              </a:rPr>
              <a:t>
SET </a:t>
            </a:r>
            <a:r>
              <a:rPr sz="900" b="0" dirty="0" err="1">
                <a:solidFill>
                  <a:srgbClr val="E8EDF2"/>
                </a:solidFill>
                <a:latin typeface="Consolas"/>
              </a:rPr>
              <a:t>check_in_date_new</a:t>
            </a:r>
            <a:r>
              <a:rPr sz="900" b="0" dirty="0">
                <a:solidFill>
                  <a:srgbClr val="E8EDF2"/>
                </a:solidFill>
                <a:latin typeface="Consolas"/>
              </a:rPr>
              <a:t> = STR_TO_DATE(</a:t>
            </a:r>
            <a:r>
              <a:rPr sz="900" b="0" dirty="0" err="1">
                <a:solidFill>
                  <a:srgbClr val="E8EDF2"/>
                </a:solidFill>
                <a:latin typeface="Consolas"/>
              </a:rPr>
              <a:t>check_in_date</a:t>
            </a:r>
            <a:r>
              <a:rPr sz="900" b="0" dirty="0">
                <a:solidFill>
                  <a:srgbClr val="E8EDF2"/>
                </a:solidFill>
                <a:latin typeface="Consolas"/>
              </a:rPr>
              <a:t>, '%d-%b-%y');
SELECT </a:t>
            </a:r>
            <a:r>
              <a:rPr sz="900" b="0" dirty="0" err="1">
                <a:solidFill>
                  <a:srgbClr val="E8EDF2"/>
                </a:solidFill>
                <a:latin typeface="Consolas"/>
              </a:rPr>
              <a:t>check_in_date</a:t>
            </a:r>
            <a:r>
              <a:rPr sz="900" b="0" dirty="0">
                <a:solidFill>
                  <a:srgbClr val="E8EDF2"/>
                </a:solidFill>
                <a:latin typeface="Consolas"/>
              </a:rPr>
              <a:t>, </a:t>
            </a:r>
            <a:r>
              <a:rPr sz="900" b="0" dirty="0" err="1">
                <a:solidFill>
                  <a:srgbClr val="E8EDF2"/>
                </a:solidFill>
                <a:latin typeface="Consolas"/>
              </a:rPr>
              <a:t>check_in_date_new</a:t>
            </a:r>
            <a:r>
              <a:rPr sz="900" b="0" dirty="0">
                <a:solidFill>
                  <a:srgbClr val="E8EDF2"/>
                </a:solidFill>
                <a:latin typeface="Consolas"/>
              </a:rPr>
              <a:t>
FROM </a:t>
            </a:r>
            <a:r>
              <a:rPr sz="900" b="0" dirty="0" err="1">
                <a:solidFill>
                  <a:srgbClr val="E8EDF2"/>
                </a:solidFill>
                <a:latin typeface="Consolas"/>
              </a:rPr>
              <a:t>fact_aggregated_bookings</a:t>
            </a:r>
            <a:r>
              <a:rPr sz="900" b="0" dirty="0">
                <a:solidFill>
                  <a:srgbClr val="E8EDF2"/>
                </a:solidFill>
                <a:latin typeface="Consolas"/>
              </a:rPr>
              <a:t>
LIMIT 10;
ALTER TABLE </a:t>
            </a:r>
            <a:r>
              <a:rPr sz="900" b="0" dirty="0" err="1">
                <a:solidFill>
                  <a:srgbClr val="E8EDF2"/>
                </a:solidFill>
                <a:latin typeface="Consolas"/>
              </a:rPr>
              <a:t>fact_aggregated_bookings</a:t>
            </a:r>
            <a:r>
              <a:rPr sz="900" b="0" dirty="0">
                <a:solidFill>
                  <a:srgbClr val="E8EDF2"/>
                </a:solidFill>
                <a:latin typeface="Consolas"/>
              </a:rPr>
              <a:t>
DROP COLUMN </a:t>
            </a:r>
            <a:r>
              <a:rPr sz="900" b="0" dirty="0" err="1">
                <a:solidFill>
                  <a:srgbClr val="E8EDF2"/>
                </a:solidFill>
                <a:latin typeface="Consolas"/>
              </a:rPr>
              <a:t>check_in_date</a:t>
            </a:r>
            <a:r>
              <a:rPr sz="900" b="0" dirty="0">
                <a:solidFill>
                  <a:srgbClr val="E8EDF2"/>
                </a:solidFill>
                <a:latin typeface="Consolas"/>
              </a:rPr>
              <a:t>;
ALTER TABLE </a:t>
            </a:r>
            <a:r>
              <a:rPr sz="900" b="0" dirty="0" err="1">
                <a:solidFill>
                  <a:srgbClr val="E8EDF2"/>
                </a:solidFill>
                <a:latin typeface="Consolas"/>
              </a:rPr>
              <a:t>fact_aggregated_bookings</a:t>
            </a:r>
            <a:r>
              <a:rPr sz="900" b="0" dirty="0">
                <a:solidFill>
                  <a:srgbClr val="E8EDF2"/>
                </a:solidFill>
                <a:latin typeface="Consolas"/>
              </a:rPr>
              <a:t>
CHANGE COLUMN </a:t>
            </a:r>
            <a:r>
              <a:rPr sz="900" b="0" dirty="0" err="1">
                <a:solidFill>
                  <a:srgbClr val="E8EDF2"/>
                </a:solidFill>
                <a:latin typeface="Consolas"/>
              </a:rPr>
              <a:t>check_in_date_new</a:t>
            </a:r>
            <a:r>
              <a:rPr sz="900" b="0" dirty="0">
                <a:solidFill>
                  <a:srgbClr val="E8EDF2"/>
                </a:solidFill>
                <a:latin typeface="Consolas"/>
              </a:rPr>
              <a:t> </a:t>
            </a:r>
            <a:r>
              <a:rPr sz="900" b="0" dirty="0" err="1">
                <a:solidFill>
                  <a:srgbClr val="E8EDF2"/>
                </a:solidFill>
                <a:latin typeface="Consolas"/>
              </a:rPr>
              <a:t>check_in_date</a:t>
            </a:r>
            <a:r>
              <a:rPr sz="900" b="0" dirty="0">
                <a:solidFill>
                  <a:srgbClr val="E8EDF2"/>
                </a:solidFill>
                <a:latin typeface="Consolas"/>
              </a:rPr>
              <a:t> DATE;
ALTER TABLE </a:t>
            </a:r>
            <a:r>
              <a:rPr sz="900" b="0" dirty="0" err="1">
                <a:solidFill>
                  <a:srgbClr val="E8EDF2"/>
                </a:solidFill>
                <a:latin typeface="Consolas"/>
              </a:rPr>
              <a:t>fact_aggregated_bookings</a:t>
            </a:r>
            <a:r>
              <a:rPr sz="900" b="0" dirty="0">
                <a:solidFill>
                  <a:srgbClr val="E8EDF2"/>
                </a:solidFill>
                <a:latin typeface="Consolas"/>
              </a:rPr>
              <a:t>
ADD CONSTRAINT </a:t>
            </a:r>
            <a:r>
              <a:rPr sz="900" b="0" dirty="0" err="1">
                <a:solidFill>
                  <a:srgbClr val="E8EDF2"/>
                </a:solidFill>
                <a:latin typeface="Consolas"/>
              </a:rPr>
              <a:t>fk_agg_date</a:t>
            </a:r>
            <a:r>
              <a:rPr sz="900" b="0" dirty="0">
                <a:solidFill>
                  <a:srgbClr val="E8EDF2"/>
                </a:solidFill>
                <a:latin typeface="Consolas"/>
              </a:rPr>
              <a:t>
FOREIGN KEY (</a:t>
            </a:r>
            <a:r>
              <a:rPr sz="900" b="0" dirty="0" err="1">
                <a:solidFill>
                  <a:srgbClr val="E8EDF2"/>
                </a:solidFill>
                <a:latin typeface="Consolas"/>
              </a:rPr>
              <a:t>check_in_date</a:t>
            </a:r>
            <a:r>
              <a:rPr sz="900" b="0" dirty="0">
                <a:solidFill>
                  <a:srgbClr val="E8EDF2"/>
                </a:solidFill>
                <a:latin typeface="Consolas"/>
              </a:rPr>
              <a:t>)
REFERENCES </a:t>
            </a:r>
            <a:r>
              <a:rPr sz="900" b="0" dirty="0" err="1">
                <a:solidFill>
                  <a:srgbClr val="E8EDF2"/>
                </a:solidFill>
                <a:latin typeface="Consolas"/>
              </a:rPr>
              <a:t>dim_date</a:t>
            </a:r>
            <a:r>
              <a:rPr sz="900" b="0" dirty="0">
                <a:solidFill>
                  <a:srgbClr val="E8EDF2"/>
                </a:solidFill>
                <a:latin typeface="Consolas"/>
              </a:rPr>
              <a:t>(`date`);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3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1005840"/>
          </a:xfrm>
          <a:prstGeom prst="rect">
            <a:avLst/>
          </a:prstGeom>
          <a:solidFill>
            <a:srgbClr val="36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118872"/>
            <a:ext cx="7955279" cy="347472"/>
          </a:xfrm>
          <a:prstGeom prst="rect">
            <a:avLst/>
          </a:prstGeom>
          <a:noFill/>
        </p:spPr>
        <p:txBody>
          <a:bodyPr wrap="square" bIns="27432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SQL — HOTEL &amp; ROOM RELATIONSHIPS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13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4572000" cy="182880"/>
          </a:xfrm>
          <a:prstGeom prst="rect">
            <a:avLst/>
          </a:prstGeom>
          <a:noFill/>
        </p:spPr>
        <p:txBody>
          <a:bodyPr wrap="square" bIns="27432">
            <a:spAutoFit/>
          </a:bodyPr>
          <a:lstStyle/>
          <a:p>
            <a:r>
              <a:rPr sz="800" b="0">
                <a:solidFill>
                  <a:srgbClr val="A0AFBE"/>
                </a:solidFill>
                <a:latin typeface="Aptos"/>
              </a:rPr>
              <a:t>Hospitality Analytics | Project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01384"/>
            <a:ext cx="594360" cy="164592"/>
          </a:xfrm>
          <a:prstGeom prst="rect">
            <a:avLst/>
          </a:prstGeom>
          <a:noFill/>
        </p:spPr>
        <p:txBody>
          <a:bodyPr wrap="square" bIns="27432">
            <a:spAutoFit/>
          </a:bodyPr>
          <a:lstStyle/>
          <a:p>
            <a:r>
              <a:rPr sz="800" b="0">
                <a:solidFill>
                  <a:srgbClr val="A0AFBE"/>
                </a:solidFill>
                <a:latin typeface="Aptos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24712"/>
            <a:ext cx="5532120" cy="2560320"/>
          </a:xfrm>
          <a:prstGeom prst="roundRect">
            <a:avLst/>
          </a:prstGeom>
          <a:solidFill>
            <a:srgbClr val="101822"/>
          </a:solidFill>
          <a:ln w="8890">
            <a:solidFill>
              <a:srgbClr val="36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144" y="1180658"/>
            <a:ext cx="5312664" cy="243143"/>
          </a:xfrm>
          <a:prstGeom prst="rect">
            <a:avLst/>
          </a:prstGeom>
          <a:noFill/>
        </p:spPr>
        <p:txBody>
          <a:bodyPr wrap="square" bIns="27432">
            <a:spAutoFit/>
          </a:bodyPr>
          <a:lstStyle/>
          <a:p>
            <a:r>
              <a:rPr sz="1100" b="1" dirty="0">
                <a:solidFill>
                  <a:srgbClr val="68BEFF"/>
                </a:solidFill>
                <a:latin typeface="Aptos"/>
              </a:rPr>
              <a:t>0</a:t>
            </a:r>
            <a:r>
              <a:rPr lang="en-US" sz="1100" b="1" dirty="0">
                <a:solidFill>
                  <a:srgbClr val="68BEFF"/>
                </a:solidFill>
                <a:latin typeface="Aptos"/>
              </a:rPr>
              <a:t>3</a:t>
            </a:r>
            <a:r>
              <a:rPr sz="1100" b="1" dirty="0">
                <a:solidFill>
                  <a:srgbClr val="68BEFF"/>
                </a:solidFill>
                <a:latin typeface="Aptos"/>
              </a:rPr>
              <a:t> — </a:t>
            </a:r>
            <a:r>
              <a:rPr sz="1100" b="1" dirty="0" err="1">
                <a:solidFill>
                  <a:srgbClr val="68BEFF"/>
                </a:solidFill>
                <a:latin typeface="Aptos"/>
              </a:rPr>
              <a:t>dim_hotels</a:t>
            </a:r>
            <a:r>
              <a:rPr sz="1100" b="1" dirty="0">
                <a:solidFill>
                  <a:srgbClr val="68BEFF"/>
                </a:solidFill>
                <a:latin typeface="Aptos"/>
              </a:rPr>
              <a:t> → </a:t>
            </a:r>
            <a:r>
              <a:rPr sz="1100" b="1" dirty="0" err="1">
                <a:solidFill>
                  <a:srgbClr val="68BEFF"/>
                </a:solidFill>
                <a:latin typeface="Aptos"/>
              </a:rPr>
              <a:t>fact_bookings</a:t>
            </a:r>
            <a:endParaRPr sz="1100" b="1" dirty="0">
              <a:solidFill>
                <a:srgbClr val="68BE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2648" y="1422725"/>
            <a:ext cx="5312664" cy="1892807"/>
          </a:xfrm>
          <a:prstGeom prst="rect">
            <a:avLst/>
          </a:prstGeom>
          <a:noFill/>
        </p:spPr>
        <p:txBody>
          <a:bodyPr wrap="square" bIns="27432">
            <a:spAutoFit/>
          </a:bodyPr>
          <a:lstStyle/>
          <a:p>
            <a:r>
              <a:rPr sz="640" b="0" dirty="0">
                <a:solidFill>
                  <a:srgbClr val="E8EDF2"/>
                </a:solidFill>
                <a:latin typeface="Consolas"/>
              </a:rPr>
              <a:t>-- </a:t>
            </a:r>
            <a:r>
              <a:rPr sz="640" b="0" dirty="0" err="1">
                <a:solidFill>
                  <a:srgbClr val="E8EDF2"/>
                </a:solidFill>
                <a:latin typeface="Consolas"/>
              </a:rPr>
              <a:t>dim_hotels</a:t>
            </a:r>
            <a:r>
              <a:rPr sz="640" b="0" dirty="0">
                <a:solidFill>
                  <a:srgbClr val="E8EDF2"/>
                </a:solidFill>
                <a:latin typeface="Consolas"/>
              </a:rPr>
              <a:t> → </a:t>
            </a:r>
            <a:r>
              <a:rPr sz="640" b="0" dirty="0" err="1">
                <a:solidFill>
                  <a:srgbClr val="E8EDF2"/>
                </a:solidFill>
                <a:latin typeface="Consolas"/>
              </a:rPr>
              <a:t>fact_bookings</a:t>
            </a:r>
            <a:r>
              <a:rPr sz="640" b="0" dirty="0">
                <a:solidFill>
                  <a:srgbClr val="E8EDF2"/>
                </a:solidFill>
                <a:latin typeface="Consolas"/>
              </a:rPr>
              <a:t>
SELECT TABLE_NAME, COLUMN_NAME, DATA_TYPE, COLUMN_TYPE
FROM INFORMATION_SCHEMA.COLUMNS
WHERE TABLE_SCHEMA = '</a:t>
            </a:r>
            <a:r>
              <a:rPr sz="640" b="0" dirty="0" err="1">
                <a:solidFill>
                  <a:srgbClr val="E8EDF2"/>
                </a:solidFill>
                <a:latin typeface="Consolas"/>
              </a:rPr>
              <a:t>shodwe_hotels</a:t>
            </a:r>
            <a:r>
              <a:rPr sz="640" b="0" dirty="0">
                <a:solidFill>
                  <a:srgbClr val="E8EDF2"/>
                </a:solidFill>
                <a:latin typeface="Consolas"/>
              </a:rPr>
              <a:t>'
  AND TABLE_NAME IN ('</a:t>
            </a:r>
            <a:r>
              <a:rPr sz="640" b="0" dirty="0" err="1">
                <a:solidFill>
                  <a:srgbClr val="E8EDF2"/>
                </a:solidFill>
                <a:latin typeface="Consolas"/>
              </a:rPr>
              <a:t>dim_hotels</a:t>
            </a:r>
            <a:r>
              <a:rPr sz="640" b="0" dirty="0">
                <a:solidFill>
                  <a:srgbClr val="E8EDF2"/>
                </a:solidFill>
                <a:latin typeface="Consolas"/>
              </a:rPr>
              <a:t>', '</a:t>
            </a:r>
            <a:r>
              <a:rPr sz="640" b="0" dirty="0" err="1">
                <a:solidFill>
                  <a:srgbClr val="E8EDF2"/>
                </a:solidFill>
                <a:latin typeface="Consolas"/>
              </a:rPr>
              <a:t>fact_bookings</a:t>
            </a:r>
            <a:r>
              <a:rPr sz="640" b="0" dirty="0">
                <a:solidFill>
                  <a:srgbClr val="E8EDF2"/>
                </a:solidFill>
                <a:latin typeface="Consolas"/>
              </a:rPr>
              <a:t>')
  AND COLUMN_NAME = '</a:t>
            </a:r>
            <a:r>
              <a:rPr sz="640" b="0" dirty="0" err="1">
                <a:solidFill>
                  <a:srgbClr val="E8EDF2"/>
                </a:solidFill>
                <a:latin typeface="Consolas"/>
              </a:rPr>
              <a:t>property_id</a:t>
            </a:r>
            <a:r>
              <a:rPr sz="640" b="0" dirty="0">
                <a:solidFill>
                  <a:srgbClr val="E8EDF2"/>
                </a:solidFill>
                <a:latin typeface="Consolas"/>
              </a:rPr>
              <a:t>';
SELECT TABLE_NAME, COLUMN_NAME, DATA_TYPE, COLUMN_TYPE
FROM INFORMATION_SCHEMA.COLUMNS
WHERE TABLE_SCHEMA = '</a:t>
            </a:r>
            <a:r>
              <a:rPr sz="640" b="0" dirty="0" err="1">
                <a:solidFill>
                  <a:srgbClr val="E8EDF2"/>
                </a:solidFill>
                <a:latin typeface="Consolas"/>
              </a:rPr>
              <a:t>shodwe_hotels</a:t>
            </a:r>
            <a:r>
              <a:rPr sz="640" b="0" dirty="0">
                <a:solidFill>
                  <a:srgbClr val="E8EDF2"/>
                </a:solidFill>
                <a:latin typeface="Consolas"/>
              </a:rPr>
              <a:t>'
  AND TABLE_NAME IN ('</a:t>
            </a:r>
            <a:r>
              <a:rPr sz="640" b="0" dirty="0" err="1">
                <a:solidFill>
                  <a:srgbClr val="E8EDF2"/>
                </a:solidFill>
                <a:latin typeface="Consolas"/>
              </a:rPr>
              <a:t>dim_hotels</a:t>
            </a:r>
            <a:r>
              <a:rPr sz="640" b="0" dirty="0">
                <a:solidFill>
                  <a:srgbClr val="E8EDF2"/>
                </a:solidFill>
                <a:latin typeface="Consolas"/>
              </a:rPr>
              <a:t>', '</a:t>
            </a:r>
            <a:r>
              <a:rPr sz="640" b="0" dirty="0" err="1">
                <a:solidFill>
                  <a:srgbClr val="E8EDF2"/>
                </a:solidFill>
                <a:latin typeface="Consolas"/>
              </a:rPr>
              <a:t>fact_bookings</a:t>
            </a:r>
            <a:r>
              <a:rPr sz="640" b="0" dirty="0">
                <a:solidFill>
                  <a:srgbClr val="E8EDF2"/>
                </a:solidFill>
                <a:latin typeface="Consolas"/>
              </a:rPr>
              <a:t>')
  AND COLUMN_NAME = '</a:t>
            </a:r>
            <a:r>
              <a:rPr sz="640" b="0" dirty="0" err="1">
                <a:solidFill>
                  <a:srgbClr val="E8EDF2"/>
                </a:solidFill>
                <a:latin typeface="Consolas"/>
              </a:rPr>
              <a:t>property_id</a:t>
            </a:r>
            <a:r>
              <a:rPr sz="640" b="0" dirty="0">
                <a:solidFill>
                  <a:srgbClr val="E8EDF2"/>
                </a:solidFill>
                <a:latin typeface="Consolas"/>
              </a:rPr>
              <a:t>';
ALTER TABLE </a:t>
            </a:r>
            <a:r>
              <a:rPr sz="640" b="0" dirty="0" err="1">
                <a:solidFill>
                  <a:srgbClr val="E8EDF2"/>
                </a:solidFill>
                <a:latin typeface="Consolas"/>
              </a:rPr>
              <a:t>dim_hotels</a:t>
            </a:r>
            <a:r>
              <a:rPr sz="640" b="0" dirty="0">
                <a:solidFill>
                  <a:srgbClr val="E8EDF2"/>
                </a:solidFill>
                <a:latin typeface="Consolas"/>
              </a:rPr>
              <a:t>
ADD PRIMARY KEY (</a:t>
            </a:r>
            <a:r>
              <a:rPr sz="640" b="0" dirty="0" err="1">
                <a:solidFill>
                  <a:srgbClr val="E8EDF2"/>
                </a:solidFill>
                <a:latin typeface="Consolas"/>
              </a:rPr>
              <a:t>property_id</a:t>
            </a:r>
            <a:r>
              <a:rPr sz="640" b="0" dirty="0">
                <a:solidFill>
                  <a:srgbClr val="E8EDF2"/>
                </a:solidFill>
                <a:latin typeface="Consolas"/>
              </a:rPr>
              <a:t>);
ALTER TABLE </a:t>
            </a:r>
            <a:r>
              <a:rPr sz="640" b="0" dirty="0" err="1">
                <a:solidFill>
                  <a:srgbClr val="E8EDF2"/>
                </a:solidFill>
                <a:latin typeface="Consolas"/>
              </a:rPr>
              <a:t>fact_bookings</a:t>
            </a:r>
            <a:r>
              <a:rPr sz="640" b="0" dirty="0">
                <a:solidFill>
                  <a:srgbClr val="E8EDF2"/>
                </a:solidFill>
                <a:latin typeface="Consolas"/>
              </a:rPr>
              <a:t>
ADD CONSTRAINT </a:t>
            </a:r>
            <a:r>
              <a:rPr sz="640" b="0" dirty="0" err="1">
                <a:solidFill>
                  <a:srgbClr val="E8EDF2"/>
                </a:solidFill>
                <a:latin typeface="Consolas"/>
              </a:rPr>
              <a:t>fk_booking_hotel</a:t>
            </a:r>
            <a:r>
              <a:rPr sz="640" b="0" dirty="0">
                <a:solidFill>
                  <a:srgbClr val="E8EDF2"/>
                </a:solidFill>
                <a:latin typeface="Consolas"/>
              </a:rPr>
              <a:t>
FOREIGN KEY (</a:t>
            </a:r>
            <a:r>
              <a:rPr sz="640" b="0" dirty="0" err="1">
                <a:solidFill>
                  <a:srgbClr val="E8EDF2"/>
                </a:solidFill>
                <a:latin typeface="Consolas"/>
              </a:rPr>
              <a:t>property_id</a:t>
            </a:r>
            <a:r>
              <a:rPr sz="640" b="0" dirty="0">
                <a:solidFill>
                  <a:srgbClr val="E8EDF2"/>
                </a:solidFill>
                <a:latin typeface="Consolas"/>
              </a:rPr>
              <a:t>)
REFERENCES </a:t>
            </a:r>
            <a:r>
              <a:rPr sz="640" b="0" dirty="0" err="1">
                <a:solidFill>
                  <a:srgbClr val="E8EDF2"/>
                </a:solidFill>
                <a:latin typeface="Consolas"/>
              </a:rPr>
              <a:t>dim_hotels</a:t>
            </a:r>
            <a:r>
              <a:rPr sz="640" b="0" dirty="0">
                <a:solidFill>
                  <a:srgbClr val="E8EDF2"/>
                </a:solidFill>
                <a:latin typeface="Consolas"/>
              </a:rPr>
              <a:t>(</a:t>
            </a:r>
            <a:r>
              <a:rPr sz="640" b="0" dirty="0" err="1">
                <a:solidFill>
                  <a:srgbClr val="E8EDF2"/>
                </a:solidFill>
                <a:latin typeface="Consolas"/>
              </a:rPr>
              <a:t>property_id</a:t>
            </a:r>
            <a:r>
              <a:rPr sz="640" b="0" dirty="0">
                <a:solidFill>
                  <a:srgbClr val="E8EDF2"/>
                </a:solidFill>
                <a:latin typeface="Consolas"/>
              </a:rPr>
              <a:t>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353312"/>
            <a:ext cx="5477256" cy="2331720"/>
          </a:xfrm>
          <a:prstGeom prst="roundRect">
            <a:avLst/>
          </a:prstGeom>
          <a:solidFill>
            <a:srgbClr val="101822"/>
          </a:solidFill>
          <a:ln w="8890">
            <a:solidFill>
              <a:srgbClr val="36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426464"/>
            <a:ext cx="5257800" cy="243143"/>
          </a:xfrm>
          <a:prstGeom prst="rect">
            <a:avLst/>
          </a:prstGeom>
          <a:noFill/>
        </p:spPr>
        <p:txBody>
          <a:bodyPr wrap="square" bIns="27432">
            <a:spAutoFit/>
          </a:bodyPr>
          <a:lstStyle/>
          <a:p>
            <a:r>
              <a:rPr sz="1100" b="1" dirty="0">
                <a:solidFill>
                  <a:srgbClr val="68BEFF"/>
                </a:solidFill>
                <a:latin typeface="Aptos"/>
              </a:rPr>
              <a:t>0</a:t>
            </a:r>
            <a:r>
              <a:rPr lang="en-US" sz="1100" b="1" dirty="0">
                <a:solidFill>
                  <a:srgbClr val="68BEFF"/>
                </a:solidFill>
                <a:latin typeface="Aptos"/>
              </a:rPr>
              <a:t>4</a:t>
            </a:r>
            <a:r>
              <a:rPr sz="1100" b="1" dirty="0">
                <a:solidFill>
                  <a:srgbClr val="68BEFF"/>
                </a:solidFill>
                <a:latin typeface="Aptos"/>
              </a:rPr>
              <a:t> — </a:t>
            </a:r>
            <a:r>
              <a:rPr sz="1100" b="1" dirty="0" err="1">
                <a:solidFill>
                  <a:srgbClr val="68BEFF"/>
                </a:solidFill>
                <a:latin typeface="Aptos"/>
              </a:rPr>
              <a:t>dim_hotels</a:t>
            </a:r>
            <a:r>
              <a:rPr sz="1100" b="1" dirty="0">
                <a:solidFill>
                  <a:srgbClr val="68BEFF"/>
                </a:solidFill>
                <a:latin typeface="Aptos"/>
              </a:rPr>
              <a:t> → </a:t>
            </a:r>
            <a:r>
              <a:rPr sz="1100" b="1" dirty="0" err="1">
                <a:solidFill>
                  <a:srgbClr val="68BEFF"/>
                </a:solidFill>
                <a:latin typeface="Aptos"/>
              </a:rPr>
              <a:t>fact_aggregated_bookings</a:t>
            </a:r>
            <a:endParaRPr sz="1100" b="1" dirty="0">
              <a:solidFill>
                <a:srgbClr val="68BE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09360" y="1737360"/>
            <a:ext cx="5257800" cy="1892807"/>
          </a:xfrm>
          <a:prstGeom prst="rect">
            <a:avLst/>
          </a:prstGeom>
          <a:noFill/>
        </p:spPr>
        <p:txBody>
          <a:bodyPr wrap="square" bIns="27432">
            <a:spAutoFit/>
          </a:bodyPr>
          <a:lstStyle/>
          <a:p>
            <a:r>
              <a:rPr sz="640" b="0">
                <a:solidFill>
                  <a:srgbClr val="E8EDF2"/>
                </a:solidFill>
                <a:latin typeface="Consolas"/>
              </a:rPr>
              <a:t>-- dim_hotels → fact_aggregated_bookings
SELECT TABLE_NAME, COLUMN_NAME, DATA_TYPE, COLUMN_TYPE
FROM INFORMATION_SCHEMA.COLUMNS
WHERE TABLE_SCHEMA = 'shodwe_hotels'
  AND TABLE_NAME IN ('dim_hotels', 'fact_aggregated_bookings')
  AND COLUMN_NAME = 'property_id';
ALTER TABLE fact_aggregated_bookings
ADD CONSTRAINT fk_agg_hotel
FOREIGN KEY (property_id)
REFERENCES dim_hotels(property_id);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22190"/>
            <a:ext cx="5532120" cy="2560319"/>
          </a:xfrm>
          <a:prstGeom prst="roundRect">
            <a:avLst/>
          </a:prstGeom>
          <a:solidFill>
            <a:srgbClr val="101822"/>
          </a:solidFill>
          <a:ln w="8890">
            <a:solidFill>
              <a:srgbClr val="36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" y="3895344"/>
            <a:ext cx="5312664" cy="243143"/>
          </a:xfrm>
          <a:prstGeom prst="rect">
            <a:avLst/>
          </a:prstGeom>
          <a:noFill/>
        </p:spPr>
        <p:txBody>
          <a:bodyPr wrap="square" bIns="27432">
            <a:spAutoFit/>
          </a:bodyPr>
          <a:lstStyle/>
          <a:p>
            <a:r>
              <a:rPr sz="1100" b="1" dirty="0">
                <a:solidFill>
                  <a:srgbClr val="68BEFF"/>
                </a:solidFill>
                <a:latin typeface="Aptos"/>
              </a:rPr>
              <a:t>0</a:t>
            </a:r>
            <a:r>
              <a:rPr lang="en-US" sz="1100" b="1" dirty="0">
                <a:solidFill>
                  <a:srgbClr val="68BEFF"/>
                </a:solidFill>
                <a:latin typeface="Aptos"/>
              </a:rPr>
              <a:t>5</a:t>
            </a:r>
            <a:r>
              <a:rPr sz="1100" b="1" dirty="0">
                <a:solidFill>
                  <a:srgbClr val="68BEFF"/>
                </a:solidFill>
                <a:latin typeface="Aptos"/>
              </a:rPr>
              <a:t> — </a:t>
            </a:r>
            <a:r>
              <a:rPr sz="1100" b="1" dirty="0" err="1">
                <a:solidFill>
                  <a:srgbClr val="68BEFF"/>
                </a:solidFill>
                <a:latin typeface="Aptos"/>
              </a:rPr>
              <a:t>dim_rooms</a:t>
            </a:r>
            <a:r>
              <a:rPr sz="1100" b="1" dirty="0">
                <a:solidFill>
                  <a:srgbClr val="68BEFF"/>
                </a:solidFill>
                <a:latin typeface="Aptos"/>
              </a:rPr>
              <a:t> → </a:t>
            </a:r>
            <a:r>
              <a:rPr sz="1100" b="1" dirty="0" err="1">
                <a:solidFill>
                  <a:srgbClr val="68BEFF"/>
                </a:solidFill>
                <a:latin typeface="Aptos"/>
              </a:rPr>
              <a:t>fact_bookings</a:t>
            </a:r>
            <a:endParaRPr sz="1100" b="1" dirty="0">
              <a:solidFill>
                <a:srgbClr val="68BEFF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2648" y="4206240"/>
            <a:ext cx="5312664" cy="1892807"/>
          </a:xfrm>
          <a:prstGeom prst="rect">
            <a:avLst/>
          </a:prstGeom>
          <a:noFill/>
        </p:spPr>
        <p:txBody>
          <a:bodyPr wrap="square" bIns="27432">
            <a:spAutoFit/>
          </a:bodyPr>
          <a:lstStyle/>
          <a:p>
            <a:r>
              <a:rPr sz="730" b="0">
                <a:solidFill>
                  <a:srgbClr val="E8EDF2"/>
                </a:solidFill>
                <a:latin typeface="Consolas"/>
              </a:rPr>
              <a:t>-- dim_rooms → fact_bookings
SELECT TABLE_NAME, COLUMN_NAME, DATA_TYPE, COLUMN_TYPE
FROM INFORMATION_SCHEMA.COLUMNS
WHERE TABLE_SCHEMA = 'shodwe_hotels'
  AND TABLE_NAME IN ('dim_rooms', 'fact_bookings')
  AND COLUMN_NAME IN ('room_id', 'room_category');
ALTER TABLE dim_rooms
MODIFY COLUMN room_id VARCHAR(10) NOT NULL;
ALTER TABLE dim_rooms
ADD PRIMARY KEY (room_id);
ALTER TABLE fact_bookings
ADD CONSTRAINT fk_booking_room
FOREIGN KEY (room_category)
REFERENCES dim_rooms(room_id);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3822191"/>
            <a:ext cx="5477256" cy="2331720"/>
          </a:xfrm>
          <a:prstGeom prst="roundRect">
            <a:avLst/>
          </a:prstGeom>
          <a:solidFill>
            <a:srgbClr val="101822"/>
          </a:solidFill>
          <a:ln w="8890">
            <a:solidFill>
              <a:srgbClr val="36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3895344"/>
            <a:ext cx="5257800" cy="243143"/>
          </a:xfrm>
          <a:prstGeom prst="rect">
            <a:avLst/>
          </a:prstGeom>
          <a:noFill/>
        </p:spPr>
        <p:txBody>
          <a:bodyPr wrap="square" bIns="27432">
            <a:spAutoFit/>
          </a:bodyPr>
          <a:lstStyle/>
          <a:p>
            <a:r>
              <a:rPr sz="1100" b="1" dirty="0">
                <a:solidFill>
                  <a:srgbClr val="68BEFF"/>
                </a:solidFill>
                <a:latin typeface="Aptos"/>
              </a:rPr>
              <a:t>0</a:t>
            </a:r>
            <a:r>
              <a:rPr lang="en-US" sz="1100" b="1" dirty="0">
                <a:solidFill>
                  <a:srgbClr val="68BEFF"/>
                </a:solidFill>
                <a:latin typeface="Aptos"/>
              </a:rPr>
              <a:t>6</a:t>
            </a:r>
            <a:r>
              <a:rPr lang="en-IN" sz="1100" b="1" dirty="0">
                <a:solidFill>
                  <a:srgbClr val="68BEFF"/>
                </a:solidFill>
                <a:latin typeface="Aptos"/>
              </a:rPr>
              <a:t> </a:t>
            </a:r>
            <a:r>
              <a:rPr sz="1100" b="1" dirty="0">
                <a:solidFill>
                  <a:srgbClr val="68BEFF"/>
                </a:solidFill>
                <a:latin typeface="Aptos"/>
              </a:rPr>
              <a:t>— </a:t>
            </a:r>
            <a:r>
              <a:rPr sz="1100" b="1" dirty="0" err="1">
                <a:solidFill>
                  <a:srgbClr val="68BEFF"/>
                </a:solidFill>
                <a:latin typeface="Aptos"/>
              </a:rPr>
              <a:t>dim_rooms</a:t>
            </a:r>
            <a:r>
              <a:rPr sz="1100" b="1" dirty="0">
                <a:solidFill>
                  <a:srgbClr val="68BEFF"/>
                </a:solidFill>
                <a:latin typeface="Aptos"/>
              </a:rPr>
              <a:t> → </a:t>
            </a:r>
            <a:r>
              <a:rPr sz="1100" b="1" dirty="0" err="1">
                <a:solidFill>
                  <a:srgbClr val="68BEFF"/>
                </a:solidFill>
                <a:latin typeface="Aptos"/>
              </a:rPr>
              <a:t>fact_aggregated_bookings</a:t>
            </a:r>
            <a:endParaRPr sz="1100" b="1" dirty="0">
              <a:solidFill>
                <a:srgbClr val="68BEFF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09360" y="4206240"/>
            <a:ext cx="5257800" cy="1892807"/>
          </a:xfrm>
          <a:prstGeom prst="rect">
            <a:avLst/>
          </a:prstGeom>
          <a:noFill/>
        </p:spPr>
        <p:txBody>
          <a:bodyPr wrap="square" bIns="27432">
            <a:spAutoFit/>
          </a:bodyPr>
          <a:lstStyle/>
          <a:p>
            <a:r>
              <a:rPr sz="780" b="0">
                <a:solidFill>
                  <a:srgbClr val="E8EDF2"/>
                </a:solidFill>
                <a:latin typeface="Consolas"/>
              </a:rPr>
              <a:t>-- dim_rooms → fact_aggregated_bookings
SELECT TABLE_NAME, COLUMN_NAME, DATA_TYPE, COLUMN_TYPE
FROM INFORMATION_SCHEMA.COLUMNS
WHERE TABLE_SCHEMA = 'shodwe_hotels'
  AND TABLE_NAME IN ('dim_rooms', 'fact_aggregated_bookings')
  AND COLUMN_NAME IN ('room_id', 'room_category');
ALTER TABLE fact_aggregated_bookings
MODIFY COLUMN room_category VARCHAR(10);
ALTER TABLE fact_aggregated_bookings
ADD CONSTRAINT fk_agg_room
FOREIGN KEY (room_category)
REFERENCES dim_rooms(room_id);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3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1005840"/>
          </a:xfrm>
          <a:prstGeom prst="rect">
            <a:avLst/>
          </a:prstGeom>
          <a:solidFill>
            <a:srgbClr val="36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118872"/>
            <a:ext cx="7955279" cy="347472"/>
          </a:xfrm>
          <a:prstGeom prst="rect">
            <a:avLst/>
          </a:prstGeom>
          <a:noFill/>
        </p:spPr>
        <p:txBody>
          <a:bodyPr wrap="square" bIns="27432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SQL — TABLEAU VIEWS &amp;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0789920" cy="228600"/>
          </a:xfrm>
          <a:prstGeom prst="rect">
            <a:avLst/>
          </a:prstGeom>
          <a:noFill/>
        </p:spPr>
        <p:txBody>
          <a:bodyPr wrap="square" bIns="27432">
            <a:spAutoFit/>
          </a:bodyPr>
          <a:lstStyle/>
          <a:p>
            <a:r>
              <a:rPr sz="950" b="1">
                <a:solidFill>
                  <a:srgbClr val="A0AFBE"/>
                </a:solidFill>
                <a:latin typeface="Aptos"/>
              </a:rPr>
              <a:t>Hospitality Analytics | SQL Analysis | Tableau-ready views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131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4572000" cy="182880"/>
          </a:xfrm>
          <a:prstGeom prst="rect">
            <a:avLst/>
          </a:prstGeom>
          <a:noFill/>
        </p:spPr>
        <p:txBody>
          <a:bodyPr wrap="square" bIns="27432">
            <a:spAutoFit/>
          </a:bodyPr>
          <a:lstStyle/>
          <a:p>
            <a:r>
              <a:rPr sz="800" b="0">
                <a:solidFill>
                  <a:srgbClr val="A0AFBE"/>
                </a:solidFill>
                <a:latin typeface="Aptos"/>
              </a:rPr>
              <a:t>Hospitality Analytics | Project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01384"/>
            <a:ext cx="594360" cy="164592"/>
          </a:xfrm>
          <a:prstGeom prst="rect">
            <a:avLst/>
          </a:prstGeom>
          <a:noFill/>
        </p:spPr>
        <p:txBody>
          <a:bodyPr wrap="square" bIns="27432">
            <a:spAutoFit/>
          </a:bodyPr>
          <a:lstStyle/>
          <a:p>
            <a:r>
              <a:rPr sz="800" b="0">
                <a:solidFill>
                  <a:srgbClr val="A0AFBE"/>
                </a:solidFill>
                <a:latin typeface="Aptos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53312"/>
            <a:ext cx="5532120" cy="3434998"/>
          </a:xfrm>
          <a:prstGeom prst="roundRect">
            <a:avLst/>
          </a:prstGeom>
          <a:solidFill>
            <a:srgbClr val="101822"/>
          </a:solidFill>
          <a:ln w="8890">
            <a:solidFill>
              <a:srgbClr val="36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" y="1426464"/>
            <a:ext cx="5312664" cy="274320"/>
          </a:xfrm>
          <a:prstGeom prst="rect">
            <a:avLst/>
          </a:prstGeom>
          <a:noFill/>
        </p:spPr>
        <p:txBody>
          <a:bodyPr wrap="square" bIns="27432">
            <a:spAutoFit/>
          </a:bodyPr>
          <a:lstStyle/>
          <a:p>
            <a:r>
              <a:rPr sz="1100" b="1">
                <a:solidFill>
                  <a:srgbClr val="68BEFF"/>
                </a:solidFill>
                <a:latin typeface="Aptos"/>
              </a:rPr>
              <a:t>01 — tableau_bookings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737360"/>
            <a:ext cx="5312664" cy="4087368"/>
          </a:xfrm>
          <a:prstGeom prst="rect">
            <a:avLst/>
          </a:prstGeom>
          <a:noFill/>
        </p:spPr>
        <p:txBody>
          <a:bodyPr wrap="square" bIns="27432">
            <a:spAutoFit/>
          </a:bodyPr>
          <a:lstStyle/>
          <a:p>
            <a:r>
              <a:rPr sz="790" b="0">
                <a:solidFill>
                  <a:srgbClr val="E8EDF2"/>
                </a:solidFill>
                <a:latin typeface="Consolas"/>
              </a:rPr>
              <a:t>CREATE OR REPLACE VIEW tableau_bookings AS
SELECT
    f.booking_id, f.property_id, h.property_name,
    h.category, h.city, f.booking_date, f.check_in_date,
    f.checkout_date, d.`mmm yy`, d.`week no`, d.day_type,
    f.room_category, r.room_class, f.no_guests,
    f.booking_platform, f.ratings_given, f.booking_status,
    f.revenue_generated, f.revenue_realized, f.customer_id,
    f.payment_method, f.stay_duration, f.cancellation_reason,
    f.is_loyalty_member, f.country, f.customer_age,
    f.special_requests, f.discount_applied, f.booking_channel
FROM fact_bookings f
LEFT JOIN dim_hotels h ON f.property_id = h.property_id
LEFT JOIN dim_rooms r ON f.room_category = r.room_id
LEFT JOIN dim_date d ON f.check_in_date = d.date;
SELECT COUNT(*) FROM tableau_bookings;
SELECT * FROM tableau_bookings;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353312"/>
            <a:ext cx="5477256" cy="3523488"/>
          </a:xfrm>
          <a:prstGeom prst="roundRect">
            <a:avLst/>
          </a:prstGeom>
          <a:solidFill>
            <a:srgbClr val="101822"/>
          </a:solidFill>
          <a:ln w="8890">
            <a:solidFill>
              <a:srgbClr val="36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426464"/>
            <a:ext cx="5257800" cy="274320"/>
          </a:xfrm>
          <a:prstGeom prst="rect">
            <a:avLst/>
          </a:prstGeom>
          <a:noFill/>
        </p:spPr>
        <p:txBody>
          <a:bodyPr wrap="square" bIns="27432">
            <a:spAutoFit/>
          </a:bodyPr>
          <a:lstStyle/>
          <a:p>
            <a:r>
              <a:rPr sz="1100" b="1">
                <a:solidFill>
                  <a:srgbClr val="68BEFF"/>
                </a:solidFill>
                <a:latin typeface="Aptos"/>
              </a:rPr>
              <a:t>02 — tableau_occupancy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737360"/>
            <a:ext cx="5257800" cy="4087368"/>
          </a:xfrm>
          <a:prstGeom prst="rect">
            <a:avLst/>
          </a:prstGeom>
          <a:noFill/>
        </p:spPr>
        <p:txBody>
          <a:bodyPr wrap="square" bIns="27432">
            <a:spAutoFit/>
          </a:bodyPr>
          <a:lstStyle/>
          <a:p>
            <a:r>
              <a:rPr sz="840" b="0">
                <a:solidFill>
                  <a:srgbClr val="E8EDF2"/>
                </a:solidFill>
                <a:latin typeface="Consolas"/>
              </a:rPr>
              <a:t>CREATE OR REPLACE VIEW tableau_occupancy AS
SELECT
    a.property_id, h.property_name, h.category, h.city,
    a.check_in_date, d.`mmm yy`, d.`week no`, d.day_type,
    a.room_category, r.room_class,
    a.successful_bookings, a.capacity
FROM fact_aggregated_bookings a
LEFT JOIN dim_hotels h ON a.property_id = h.property_id
LEFT JOIN dim_rooms r ON a.room_category = r.room_id
LEFT JOIN dim_date d ON a.check_in_date = d.date;
SELECT COUNT(*) FROM tableau_occupancy;
SELECT * FROM tableau_occupancy;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37160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EXCEL DATA PREPARATION
Workbook Structure &amp; KPI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10058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73152" rtlCol="0" anchor="ctr"/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rPr dirty="0"/>
              <a:t>Hospitality Analytics | Excel Analysis | Group 0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5303520" cy="1536192"/>
          </a:xfrm>
          <a:prstGeom prst="roundRect">
            <a:avLst/>
          </a:prstGeom>
          <a:solidFill>
            <a:srgbClr val="071324"/>
          </a:solidFill>
          <a:ln w="1270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rPr sz="1200"/>
              <a:t>01 - BOOKING FACT
Sheet1 (2) / fact_bookings
134,590 booking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188720"/>
            <a:ext cx="5303520" cy="1536192"/>
          </a:xfrm>
          <a:prstGeom prst="roundRect">
            <a:avLst/>
          </a:prstGeom>
          <a:solidFill>
            <a:srgbClr val="071324"/>
          </a:solidFill>
          <a:ln w="1270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rPr sz="1200"/>
              <a:t>02 - AGGREGATED FACT
fact_aggregated_bookings
9,200 records for capacity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5303520" cy="1536192"/>
          </a:xfrm>
          <a:prstGeom prst="roundRect">
            <a:avLst/>
          </a:prstGeom>
          <a:solidFill>
            <a:srgbClr val="071324"/>
          </a:solidFill>
          <a:ln w="1270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rPr sz="1200"/>
              <a:t>03 - DIMENSIONS
dim_hotels • dim_rooms • dim_date
Hotel, room and calendar 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2880360"/>
            <a:ext cx="5303520" cy="1536192"/>
          </a:xfrm>
          <a:prstGeom prst="roundRect">
            <a:avLst/>
          </a:prstGeom>
          <a:solidFill>
            <a:srgbClr val="071324"/>
          </a:solidFill>
          <a:ln w="1270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rPr sz="1200"/>
              <a:t>04 - KPI CALCULATIONS
Revenue Realized • Bookings • Occupancy
ADR • RevPAR • Realisation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572000"/>
            <a:ext cx="5303520" cy="1536192"/>
          </a:xfrm>
          <a:prstGeom prst="roundRect">
            <a:avLst/>
          </a:prstGeom>
          <a:solidFill>
            <a:srgbClr val="071324"/>
          </a:solidFill>
          <a:ln w="1270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rPr sz="1200"/>
              <a:t>05 - BOOKING METRICS
Cancellation % • No Show %
Status and platform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4572000"/>
            <a:ext cx="5303520" cy="1536192"/>
          </a:xfrm>
          <a:prstGeom prst="roundRect">
            <a:avLst/>
          </a:prstGeom>
          <a:solidFill>
            <a:srgbClr val="071324"/>
          </a:solidFill>
          <a:ln w="1270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rPr sz="1200"/>
              <a:t>06 - ANALYSIS OUTPUT
Dashboard + Pivot tables &amp; charts
Interactive business reporting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18872"/>
            <a:ext cx="79552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64592"/>
            <a:ext cx="3611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4D8E3"/>
                </a:solidFill>
                <a:latin typeface="Aptos"/>
              </a:defRPr>
            </a:pPr>
            <a:r>
              <a:t>Hospitality Analytics | Hotel Booking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"/>
            <a:ext cx="12191999" cy="64008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960120"/>
            <a:ext cx="2578608" cy="914400"/>
          </a:xfrm>
          <a:prstGeom prst="roundRect">
            <a:avLst/>
          </a:prstGeom>
          <a:solidFill>
            <a:srgbClr val="0F2A43"/>
          </a:solidFill>
          <a:ln>
            <a:solidFill>
              <a:srgbClr val="1C9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₹1.71B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90472"/>
            <a:ext cx="2578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9DCE7"/>
                </a:solidFill>
                <a:latin typeface="Aptos"/>
              </a:defRPr>
            </a:pPr>
            <a:r>
              <a:t>Revenue Realized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960120"/>
            <a:ext cx="2578608" cy="914400"/>
          </a:xfrm>
          <a:prstGeom prst="roundRect">
            <a:avLst/>
          </a:prstGeom>
          <a:solidFill>
            <a:srgbClr val="0F2A43"/>
          </a:solidFill>
          <a:ln>
            <a:solidFill>
              <a:srgbClr val="1A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1115568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₹2.01B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490472"/>
            <a:ext cx="2578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9DCE7"/>
                </a:solidFill>
                <a:latin typeface="Aptos"/>
              </a:defRPr>
            </a:pPr>
            <a:r>
              <a:t>Revenue Generated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960120"/>
            <a:ext cx="2578608" cy="914400"/>
          </a:xfrm>
          <a:prstGeom prst="roundRect">
            <a:avLst/>
          </a:prstGeom>
          <a:solidFill>
            <a:srgbClr val="0F2A43"/>
          </a:solidFill>
          <a:ln>
            <a:solidFill>
              <a:srgbClr val="705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1115568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57.87%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490472"/>
            <a:ext cx="2578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9DCE7"/>
                </a:solidFill>
                <a:latin typeface="Aptos"/>
              </a:defRPr>
            </a:pPr>
            <a:r>
              <a:t>Occupancy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960120"/>
            <a:ext cx="2578608" cy="914400"/>
          </a:xfrm>
          <a:prstGeom prst="roundRect">
            <a:avLst/>
          </a:prstGeom>
          <a:solidFill>
            <a:srgbClr val="0F2A43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06840" y="1115568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3.62 /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1490472"/>
            <a:ext cx="2578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9DCE7"/>
                </a:solidFill>
                <a:latin typeface="Aptos"/>
              </a:defRPr>
            </a:pPr>
            <a:r>
              <a:t>Average Rating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148840"/>
            <a:ext cx="3520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8368" y="2313432"/>
            <a:ext cx="393192" cy="393192"/>
          </a:xfrm>
          <a:prstGeom prst="ellipse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2359152"/>
            <a:ext cx="3931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 b="1"/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231343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A43"/>
                </a:solidFill>
                <a:latin typeface="Aptos"/>
              </a:defRPr>
            </a:pPr>
            <a:r>
              <a:rPr sz="1500" b="1"/>
              <a:t>Highest Revenue City: Mumbai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2743200"/>
            <a:ext cx="31821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A3744"/>
                </a:solidFill>
                <a:latin typeface="Aptos"/>
              </a:defRPr>
            </a:pPr>
            <a:r>
              <a:rPr sz="1100"/>
              <a:t>Mumbai generated ₹668.64M of realized revenue in the uploaded booking data.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2148840"/>
            <a:ext cx="3520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498848" y="2313432"/>
            <a:ext cx="393192" cy="393192"/>
          </a:xfrm>
          <a:prstGeom prst="ellipse">
            <a:avLst/>
          </a:prstGeom>
          <a:solidFill>
            <a:srgbClr val="1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98848" y="2359152"/>
            <a:ext cx="3931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 b="1"/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231343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A43"/>
                </a:solidFill>
                <a:latin typeface="Aptos"/>
              </a:defRPr>
            </a:pPr>
            <a:r>
              <a:rPr sz="1500" b="1"/>
              <a:t>Largest Booking Platform: Others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7992" y="2743200"/>
            <a:ext cx="31821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A3744"/>
                </a:solidFill>
                <a:latin typeface="Aptos"/>
              </a:defRPr>
            </a:pPr>
            <a:r>
              <a:rPr sz="1100"/>
              <a:t>The Others platform category recorded 55,066 bookings, the largest platform count.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2148840"/>
            <a:ext cx="3520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339328" y="2313432"/>
            <a:ext cx="393192" cy="393192"/>
          </a:xfrm>
          <a:prstGeom prst="ellipse">
            <a:avLst/>
          </a:prstGeom>
          <a:solidFill>
            <a:srgbClr val="705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39328" y="2359152"/>
            <a:ext cx="3931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 b="1"/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231343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A43"/>
                </a:solidFill>
                <a:latin typeface="Aptos"/>
              </a:defRPr>
            </a:pPr>
            <a:r>
              <a:rPr sz="1500" b="1"/>
              <a:t>Most Booked Room Class: Elite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2" y="2743200"/>
            <a:ext cx="31821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A3744"/>
                </a:solidFill>
                <a:latin typeface="Aptos"/>
              </a:defRPr>
            </a:pPr>
            <a:r>
              <a:rPr sz="1100"/>
              <a:t>Elite rooms recorded 49,505 bookings, ahead of the other room classes.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3730752"/>
            <a:ext cx="3520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58368" y="3895344"/>
            <a:ext cx="393192" cy="393192"/>
          </a:xfrm>
          <a:prstGeom prst="ellipse">
            <a:avLst/>
          </a:prstGeom>
          <a:solidFill>
            <a:srgbClr val="D2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" y="3941064"/>
            <a:ext cx="3931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 b="1"/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3895344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A43"/>
                </a:solidFill>
                <a:latin typeface="Aptos"/>
              </a:defRPr>
            </a:pPr>
            <a:r>
              <a:rPr sz="1500" b="1"/>
              <a:t>Booking Status Mix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" y="4325112"/>
            <a:ext cx="31821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A3744"/>
                </a:solidFill>
                <a:latin typeface="Aptos"/>
              </a:defRPr>
            </a:pPr>
            <a:r>
              <a:rPr sz="1100"/>
              <a:t>94,411 checked-out bookings, 33,420 cancellations and 6,759 no-shows are recorded.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43400" y="3730752"/>
            <a:ext cx="3520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4498848" y="3895344"/>
            <a:ext cx="393192" cy="3931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98848" y="3941064"/>
            <a:ext cx="3931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 b="1"/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3895344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A43"/>
                </a:solidFill>
                <a:latin typeface="Aptos"/>
              </a:defRPr>
            </a:pPr>
            <a:r>
              <a:rPr sz="1500" b="1"/>
              <a:t>Highest Revenue Property: Shodwe Exotica | Mumbai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07992" y="4325112"/>
            <a:ext cx="31821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A3744"/>
                </a:solidFill>
                <a:latin typeface="Aptos"/>
              </a:defRPr>
            </a:pPr>
            <a:r>
              <a:rPr sz="1100"/>
              <a:t>The property recorded ₹212.44M of realized revenue in the project data.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83880" y="3730752"/>
            <a:ext cx="3520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339328" y="3895344"/>
            <a:ext cx="393192" cy="393192"/>
          </a:xfrm>
          <a:prstGeom prst="ellipse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39328" y="3941064"/>
            <a:ext cx="3931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 b="1"/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3895344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A43"/>
                </a:solidFill>
                <a:latin typeface="Aptos"/>
              </a:defRPr>
            </a:pPr>
            <a:r>
              <a:rPr sz="1500" b="1"/>
              <a:t>Revenue &amp; Utilization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48472" y="4325112"/>
            <a:ext cx="31821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A3744"/>
                </a:solidFill>
                <a:latin typeface="Aptos"/>
              </a:defRPr>
            </a:pPr>
            <a:r>
              <a:rPr sz="1100"/>
              <a:t>Realisation is 70.16%, cancellation is 24.83%, no-show is 5.02%, and occupancy is 57.87%.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611112"/>
            <a:ext cx="12191999" cy="24688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11480" y="6629400"/>
            <a:ext cx="2632452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Aptos"/>
              </a:defRPr>
            </a:pPr>
            <a:r>
              <a:rPr dirty="0"/>
              <a:t>Hospitality Analytics | Project Presentation | </a:t>
            </a:r>
            <a:r>
              <a:rPr lang="en-IN" dirty="0"/>
              <a:t>Group 4</a:t>
            </a:r>
            <a:endParaRPr dirty="0"/>
          </a:p>
        </p:txBody>
      </p:sp>
      <p:sp>
        <p:nvSpPr>
          <p:cNvPr id="51" name="TextBox 50"/>
          <p:cNvSpPr txBox="1"/>
          <p:nvPr/>
        </p:nvSpPr>
        <p:spPr>
          <a:xfrm>
            <a:off x="11155680" y="6620256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496"/>
            <a:ext cx="12191999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591353"/>
            <a:ext cx="10835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2A43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072582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A3744"/>
                </a:solidFill>
                <a:latin typeface="Aptos"/>
              </a:defRPr>
            </a:pPr>
            <a:r>
              <a:rPr dirty="0"/>
              <a:t>Adventure Works Sales Analysis</a:t>
            </a:r>
            <a:br>
              <a:rPr dirty="0"/>
            </a:br>
            <a:r>
              <a:rPr dirty="0"/>
              <a:t>Excel + Power BI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4572000"/>
            <a:ext cx="1645920" cy="310896"/>
          </a:xfrm>
          <a:prstGeom prst="roundRect">
            <a:avLst/>
          </a:prstGeom>
          <a:solidFill>
            <a:srgbClr val="1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54680" y="4590288"/>
            <a:ext cx="1645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EXCEL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4572000"/>
            <a:ext cx="1645920" cy="310896"/>
          </a:xfrm>
          <a:prstGeom prst="round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57800" y="4590288"/>
            <a:ext cx="1645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4572000"/>
            <a:ext cx="1645920" cy="31089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13425" y="4590288"/>
            <a:ext cx="740908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rPr lang="en-IN" sz="1050" b="1" dirty="0">
                <a:solidFill>
                  <a:srgbClr val="F5F9FC"/>
                </a:solidFill>
                <a:latin typeface="Aptos"/>
              </a:rPr>
              <a:t>TABLEAU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457200" y="6601968"/>
            <a:ext cx="1078992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Aptos"/>
              </a:defRPr>
            </a:pPr>
            <a:r>
              <a:rPr dirty="0"/>
              <a:t>Hospitality Analytics | Project Presentation | </a:t>
            </a:r>
            <a:r>
              <a:rPr lang="en-IN" dirty="0"/>
              <a:t>Group 4</a:t>
            </a:r>
            <a:endParaRPr dirty="0"/>
          </a:p>
        </p:txBody>
      </p:sp>
      <p:sp>
        <p:nvSpPr>
          <p:cNvPr id="16" name="Rounded Rectangle 11">
            <a:extLst>
              <a:ext uri="{FF2B5EF4-FFF2-40B4-BE49-F238E27FC236}">
                <a16:creationId xmlns:a16="http://schemas.microsoft.com/office/drawing/2014/main" id="{D021A925-A033-F624-F8EB-03ACFE00F457}"/>
              </a:ext>
            </a:extLst>
          </p:cNvPr>
          <p:cNvSpPr/>
          <p:nvPr/>
        </p:nvSpPr>
        <p:spPr>
          <a:xfrm>
            <a:off x="5463786" y="5084543"/>
            <a:ext cx="1264428" cy="3108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805FFA-B89A-1EFB-E1DE-60D81FEA572A}"/>
              </a:ext>
            </a:extLst>
          </p:cNvPr>
          <p:cNvSpPr txBox="1"/>
          <p:nvPr/>
        </p:nvSpPr>
        <p:spPr>
          <a:xfrm>
            <a:off x="5909914" y="5113033"/>
            <a:ext cx="43313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	SQL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2767</Words>
  <Application>Microsoft Office PowerPoint</Application>
  <PresentationFormat>Widescreen</PresentationFormat>
  <Paragraphs>174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GNANA SEKHAR</cp:lastModifiedBy>
  <cp:revision>8</cp:revision>
  <dcterms:created xsi:type="dcterms:W3CDTF">2013-01-27T09:14:16Z</dcterms:created>
  <dcterms:modified xsi:type="dcterms:W3CDTF">2026-10-01T14:10:34Z</dcterms:modified>
  <cp:category/>
</cp:coreProperties>
</file>